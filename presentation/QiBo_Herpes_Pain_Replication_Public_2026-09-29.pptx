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6" r:id="rId10"/>
    <p:sldId id="26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69"/>
    <p:restoredTop sz="94658"/>
  </p:normalViewPr>
  <p:slideViewPr>
    <p:cSldViewPr snapToGrid="0">
      <p:cViewPr varScale="1">
        <p:scale>
          <a:sx n="81" d="100"/>
          <a:sy n="81" d="100"/>
        </p:scale>
        <p:origin x="200" y="9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Cure rate (%)</c:v>
          </c:tx>
          <c:spPr>
            <a:solidFill>
              <a:srgbClr val="277C79"/>
            </a:solidFill>
          </c:spPr>
          <c:invertIfNegative val="1"/>
          <c:dPt>
            <c:idx val="0"/>
            <c:invertIfNegative val="0"/>
            <c:bubble3D val="0"/>
            <c:spPr>
              <a:solidFill>
                <a:srgbClr val="477EA8"/>
              </a:solidFill>
            </c:spPr>
            <c:extLst>
              <c:ext xmlns:c16="http://schemas.microsoft.com/office/drawing/2014/chart" uri="{C3380CC4-5D6E-409C-BE32-E72D297353CC}">
                <c16:uniqueId val="{00000001-E6CB-FA41-A5FF-680DA8BEE311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E6CB-FA41-A5FF-680DA8BEE311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650" b="1">
                    <a:solidFill>
                      <a:srgbClr val="102A3C"/>
                    </a:solidFill>
                    <a:latin typeface="DM Sans"/>
                    <a:ea typeface="DM Sans"/>
                    <a:cs typeface="DM San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Data'!$A$2:$A$3</c:f>
              <c:strCache>
                <c:ptCount val="2"/>
                <c:pt idx="0">
                  <c:v>Standard medication  34/52</c:v>
                </c:pt>
                <c:pt idx="1">
                  <c:v>WAA plus medication  47/54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65.38</c:v>
                </c:pt>
                <c:pt idx="1">
                  <c:v>87.04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4-E6CB-FA41-A5FF-680DA8BEE31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125">
                <a:solidFill>
                  <a:srgbClr val="65727E"/>
                </a:solidFill>
                <a:latin typeface="DM Sans"/>
                <a:ea typeface="DM Sans"/>
                <a:cs typeface="DM Sans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425">
                <a:solidFill>
                  <a:srgbClr val="253342"/>
                </a:solidFill>
                <a:latin typeface="DM Sans"/>
                <a:ea typeface="DM Sans"/>
                <a:cs typeface="DM Sans"/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solidFill>
          <a:srgbClr val="FFFFFF"/>
        </a:solidFill>
      </c:spPr>
    </c:plotArea>
    <c:plotVisOnly val="1"/>
    <c:dispBlanksAs val="zero"/>
    <c:showDLblsOverMax val="1"/>
  </c:chart>
  <c:spPr>
    <a:solidFill>
      <a:srgbClr val="FFFFFF"/>
    </a:solidFill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de844f9f1774a54" /><Relationship Type="http://schemas.openxmlformats.org/officeDocument/2006/relationships/notesMaster" Target="/ppt/notesMasters/notesMaster1.xml" Id="R546c3fd484054314" /></Relationship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Candidate studies and IPD paths, checked 28 September 2026.</a:t>
            </a:r>
          </a:p>
          <a:p xmlns:a="http://schemas.openxmlformats.org/drawingml/2006/main">
            <a:r>
              <a:t>Armour M et al. PLOS ONE 2017, DOI 10.1371/journal.pone.0180177. ITT and per-protocol SPSS supporting files: https://doi.org/10.1371/journal.pone.0180177.s008 (and adjacent supporting files). Four-arm exploratory trial, no no-acupuncture arm.</a:t>
            </a:r>
          </a:p>
          <a:p xmlns:a="http://schemas.openxmlformats.org/drawingml/2006/main">
            <a:r>
              <a:t>Conboy L et al. PLOS ONE 2016, DOI 10.1371/journal.pone.0149161. S4 Excel outcome file: https://doi.org/10.1371/journal.pone.0149161.s004. The randomized comparison changes acupuncture timing/dose; both arms receive treatment by six months.</a:t>
            </a:r>
          </a:p>
          <a:p xmlns:a="http://schemas.openxmlformats.org/drawingml/2006/main">
            <a:r>
              <a:t>ACUFOCIN, Stringer J et al. European Journal of Oncology Nursing 2022, DOI 10.1016/j.ejon.2022.102171. Data may be available from authors on reasonable request; access has not been granted.</a:t>
            </a:r>
          </a:p>
          <a:p xmlns:a="http://schemas.openxmlformats.org/drawingml/2006/main">
            <a:r>
              <a:t>Suh et al. Frontiers in Neurology 2025, DOI 10.3389/fneur.2025.1628794. Matched retrospective analysis; request IPD from corresponding author.</a:t>
            </a:r>
          </a:p>
          <a:p xmlns:a="http://schemas.openxmlformats.org/drawingml/2006/main">
            <a:r>
              <a:t>Osteoarthritis Initiative acupuncture analysis. Frontiers in Medicine 2026, DOI 10.3389/fmed.2026.1798684. OAI individual-level data require NIH NDA application: https://nda.nih.gov/general-query.html?q=query%3Dfeatured-datasets:Osteoarthritis+Initiative+(OAI).</a:t>
            </a:r>
          </a:p>
          <a:p xmlns:a="http://schemas.openxmlformats.org/drawingml/2006/main">
            <a:r>
              <a:t>Open means source files were publicly downloadable at the time checked. Request/approval means IPD has not been secured. The two open files should be audited for variable completeness and reuse terms before selecting a replication.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58a67d2826408c" /><Relationship Type="http://schemas.openxmlformats.org/officeDocument/2006/relationships/notesSlide" Target="/ppt/notesSlides/notesSlide11.xml" Id="R89af1e3977ff4f1a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A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4C02D15-4C6C-4017-AE4D-03ECE067827E}"/>
              </a:ext>
            </a:extLst>
          </p:cNvPr>
          <p:cNvSpPr>
            <a:spLocks noGrp="1"/>
          </p:cNvSpPr>
          <p:nvPr/>
        </p:nvSpPr>
        <p:spPr>
          <a:xfrm>
            <a:off x="619125" y="523875"/>
            <a:ext cx="89535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350" b="1">
                <a:solidFill>
                  <a:srgbClr val="4EA8A1"/>
                </a:solidFill>
                <a:latin typeface="DM Sans"/>
                <a:ea typeface="DM Sans"/>
                <a:cs typeface="DM Sans"/>
              </a:defRPr>
            </a:pPr>
            <a:r>
              <a:rPr sz="1350" b="1">
                <a:solidFill>
                  <a:srgbClr val="4EA8A1"/>
                </a:solidFill>
                <a:latin typeface="DM Sans"/>
                <a:ea typeface="DM Sans"/>
                <a:cs typeface="DM Sans"/>
              </a:rPr>
              <a:t>QIBO RESEARCH · PUBLISHED RCT REPLICATION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9AB1405-4E01-4099-AD23-355E1E466546}"/>
              </a:ext>
            </a:extLst>
          </p:cNvPr>
          <p:cNvSpPr>
            <a:spLocks noGrp="1"/>
          </p:cNvSpPr>
          <p:nvPr/>
        </p:nvSpPr>
        <p:spPr>
          <a:xfrm>
            <a:off x="619125" y="1381125"/>
            <a:ext cx="8096250" cy="1571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4050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4050" b="1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Herpes zoster pain</a:t>
            </a:r>
          </a:p>
          <a:p>
            <a:pPr algn="l">
              <a:defRPr sz="4050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4050" b="1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RCT replication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B313019-041C-4EAB-BCB8-AFE618BBD6F5}"/>
              </a:ext>
            </a:extLst>
          </p:cNvPr>
          <p:cNvSpPr>
            <a:spLocks noGrp="1"/>
          </p:cNvSpPr>
          <p:nvPr/>
        </p:nvSpPr>
        <p:spPr>
          <a:xfrm>
            <a:off x="619125" y="3162300"/>
            <a:ext cx="8858250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00" b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2100" b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Participant data, OMOP validation and published-result reconciliation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06E8CE1-FC47-4C15-8584-899FDD770269}"/>
              </a:ext>
            </a:extLst>
          </p:cNvPr>
          <p:cNvSpPr>
            <a:spLocks noGrp="1"/>
          </p:cNvSpPr>
          <p:nvPr/>
        </p:nvSpPr>
        <p:spPr>
          <a:xfrm>
            <a:off x="9486900" y="495300"/>
            <a:ext cx="2219325" cy="2286000"/>
          </a:xfrm>
          <a:prstGeom prst="roundRect">
            <a:avLst>
              <a:gd name="adj" fmla="val 3433"/>
            </a:avLst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719456" y="619125"/>
            <a:ext cx="1754213" cy="20955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04E4E19-A4B8-470A-9B1C-2D9BE050C9DE}"/>
              </a:ext>
            </a:extLst>
          </p:cNvPr>
          <p:cNvSpPr>
            <a:spLocks noGrp="1"/>
          </p:cNvSpPr>
          <p:nvPr/>
        </p:nvSpPr>
        <p:spPr>
          <a:xfrm>
            <a:off x="619125" y="5810250"/>
            <a:ext cx="819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1500" b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Independent analysis of published participant data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3B6F357-4E01-4209-AB0E-9F1A3CDE8963}"/>
              </a:ext>
            </a:extLst>
          </p:cNvPr>
          <p:cNvSpPr>
            <a:spLocks noGrp="1"/>
          </p:cNvSpPr>
          <p:nvPr/>
        </p:nvSpPr>
        <p:spPr>
          <a:xfrm>
            <a:off x="619125" y="6334125"/>
            <a:ext cx="57150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50" b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1050" b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29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16537347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DF3B1C4B-FABB-4EA9-80F3-1211F67E5AA6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00012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00" b="1">
                <a:solidFill>
                  <a:srgbClr val="277C79"/>
                </a:solidFill>
                <a:latin typeface="DM Sans"/>
                <a:ea typeface="DM Sans"/>
                <a:cs typeface="DM Sans"/>
              </a:defRPr>
            </a:pPr>
            <a:r>
              <a:rPr sz="1200" b="1">
                <a:solidFill>
                  <a:srgbClr val="277C79"/>
                </a:solidFill>
                <a:latin typeface="DM Sans"/>
                <a:ea typeface="DM Sans"/>
                <a:cs typeface="DM Sans"/>
              </a:rPr>
              <a:t>STUDY PORTFOLIO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4E833DC-CC84-4476-8EA0-1D90960BFF8A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104900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775" b="1">
                <a:solidFill>
                  <a:srgbClr val="102A3C"/>
                </a:solidFill>
                <a:latin typeface="DM Sans"/>
                <a:ea typeface="DM Sans"/>
                <a:cs typeface="DM Sans"/>
              </a:defRPr>
            </a:pPr>
            <a:r>
              <a:rPr sz="2775" b="1">
                <a:solidFill>
                  <a:srgbClr val="102A3C"/>
                </a:solidFill>
                <a:latin typeface="DM Sans"/>
                <a:ea typeface="DM Sans"/>
                <a:cs typeface="DM Sans"/>
              </a:rPr>
              <a:t>A published trial tests different parts of the QiBo pipeline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FA26029-5E6F-41EA-8CA6-BD10114EE82E}"/>
              </a:ext>
            </a:extLst>
          </p:cNvPr>
          <p:cNvSpPr>
            <a:spLocks noGrp="1"/>
          </p:cNvSpPr>
          <p:nvPr/>
        </p:nvSpPr>
        <p:spPr>
          <a:xfrm>
            <a:off x="609600" y="6448425"/>
            <a:ext cx="66675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75" b="1">
                <a:solidFill>
                  <a:srgbClr val="E6634F"/>
                </a:solidFill>
                <a:latin typeface="DM Sans"/>
                <a:ea typeface="DM Sans"/>
                <a:cs typeface="DM Sans"/>
              </a:defRPr>
            </a:pPr>
            <a:r>
              <a:rPr sz="975" b="1">
                <a:solidFill>
                  <a:srgbClr val="E6634F"/>
                </a:solidFill>
                <a:latin typeface="DM Sans"/>
                <a:ea typeface="DM Sans"/>
                <a:cs typeface="DM Sans"/>
              </a:rPr>
              <a:t>PUBLISHED RCT · PUBLIC SUMMARY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3FC3A25-CB74-4F49-85AD-1EB74745EAF9}"/>
              </a:ext>
            </a:extLst>
          </p:cNvPr>
          <p:cNvSpPr>
            <a:spLocks noGrp="1"/>
          </p:cNvSpPr>
          <p:nvPr/>
        </p:nvSpPr>
        <p:spPr>
          <a:xfrm>
            <a:off x="11287125" y="6448425"/>
            <a:ext cx="333375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975" b="0">
                <a:solidFill>
                  <a:srgbClr val="65727E"/>
                </a:solidFill>
                <a:latin typeface="DM Sans"/>
                <a:ea typeface="DM Sans"/>
                <a:cs typeface="DM Sans"/>
              </a:defRPr>
            </a:pPr>
            <a:r>
              <a:rPr sz="975" b="0">
                <a:solidFill>
                  <a:srgbClr val="65727E"/>
                </a:solidFill>
                <a:latin typeface="DM Sans"/>
                <a:ea typeface="DM Sans"/>
                <a:cs typeface="DM Sans"/>
              </a:rPr>
              <a:t>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D5AADBF-30CB-44E9-89FF-275F1D86E180}"/>
              </a:ext>
            </a:extLst>
          </p:cNvPr>
          <p:cNvSpPr>
            <a:spLocks noGrp="1"/>
          </p:cNvSpPr>
          <p:nvPr/>
        </p:nvSpPr>
        <p:spPr>
          <a:xfrm>
            <a:off x="2874594" y="2143125"/>
            <a:ext cx="2952750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400" b="1">
                <a:solidFill>
                  <a:srgbClr val="277C79"/>
                </a:solidFill>
                <a:latin typeface="DM Sans"/>
                <a:ea typeface="DM Sans"/>
                <a:cs typeface="DM Sans"/>
              </a:defRPr>
            </a:pPr>
            <a:r>
              <a:rPr sz="2400" b="1">
                <a:solidFill>
                  <a:srgbClr val="277C79"/>
                </a:solidFill>
                <a:latin typeface="DM Sans"/>
                <a:ea typeface="DM Sans"/>
                <a:cs typeface="DM Sans"/>
              </a:rPr>
              <a:t>01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1E040DA-B399-462B-8F12-0CD6E8C33734}"/>
              </a:ext>
            </a:extLst>
          </p:cNvPr>
          <p:cNvSpPr>
            <a:spLocks noGrp="1"/>
          </p:cNvSpPr>
          <p:nvPr/>
        </p:nvSpPr>
        <p:spPr>
          <a:xfrm>
            <a:off x="2874594" y="2695575"/>
            <a:ext cx="29527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950" b="1">
                <a:solidFill>
                  <a:srgbClr val="102A3C"/>
                </a:solidFill>
                <a:latin typeface="DM Sans"/>
                <a:ea typeface="DM Sans"/>
                <a:cs typeface="DM Sans"/>
              </a:defRPr>
            </a:pPr>
            <a:r>
              <a:rPr sz="1950" b="1">
                <a:solidFill>
                  <a:srgbClr val="102A3C"/>
                </a:solidFill>
                <a:latin typeface="DM Sans"/>
                <a:ea typeface="DM Sans"/>
                <a:cs typeface="DM Sans"/>
              </a:rPr>
              <a:t>Earlier synthetic studies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4BA2C4C-F459-49D0-843A-9FF3E9546005}"/>
              </a:ext>
            </a:extLst>
          </p:cNvPr>
          <p:cNvSpPr>
            <a:spLocks noGrp="1"/>
          </p:cNvSpPr>
          <p:nvPr/>
        </p:nvSpPr>
        <p:spPr>
          <a:xfrm>
            <a:off x="2874594" y="3429000"/>
            <a:ext cx="2952750" cy="1905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650" b="0">
                <a:solidFill>
                  <a:srgbClr val="253342"/>
                </a:solidFill>
                <a:latin typeface="DM Sans"/>
                <a:ea typeface="DM Sans"/>
                <a:cs typeface="DM Sans"/>
              </a:defRPr>
            </a:pPr>
            <a:r>
              <a:rPr sz="1650" b="0">
                <a:solidFill>
                  <a:srgbClr val="253342"/>
                </a:solidFill>
                <a:latin typeface="DM Sans"/>
                <a:ea typeface="DM Sans"/>
                <a:cs typeface="DM Sans"/>
              </a:rPr>
              <a:t>We generated the data and knew the underlying answer. Those pilots tested whether the pipeline could recover it.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4EEF1E8-7356-4AD9-A4EF-2FF836C7ABC4}"/>
              </a:ext>
            </a:extLst>
          </p:cNvPr>
          <p:cNvSpPr>
            <a:spLocks noGrp="1"/>
          </p:cNvSpPr>
          <p:nvPr/>
        </p:nvSpPr>
        <p:spPr>
          <a:xfrm>
            <a:off x="6589344" y="2143125"/>
            <a:ext cx="2952750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400" b="1">
                <a:solidFill>
                  <a:srgbClr val="277C79"/>
                </a:solidFill>
                <a:latin typeface="DM Sans"/>
                <a:ea typeface="DM Sans"/>
                <a:cs typeface="DM Sans"/>
              </a:defRPr>
            </a:pPr>
            <a:r>
              <a:rPr sz="2400" b="1">
                <a:solidFill>
                  <a:srgbClr val="277C79"/>
                </a:solidFill>
                <a:latin typeface="DM Sans"/>
                <a:ea typeface="DM Sans"/>
                <a:cs typeface="DM Sans"/>
              </a:rPr>
              <a:t>02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47223FF-ADFE-4B97-A087-7BB29D0F2E92}"/>
              </a:ext>
            </a:extLst>
          </p:cNvPr>
          <p:cNvSpPr>
            <a:spLocks noGrp="1"/>
          </p:cNvSpPr>
          <p:nvPr/>
        </p:nvSpPr>
        <p:spPr>
          <a:xfrm>
            <a:off x="6589344" y="2695575"/>
            <a:ext cx="29527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950" b="1">
                <a:solidFill>
                  <a:srgbClr val="102A3C"/>
                </a:solidFill>
                <a:latin typeface="DM Sans"/>
                <a:ea typeface="DM Sans"/>
                <a:cs typeface="DM Sans"/>
              </a:defRPr>
            </a:pPr>
            <a:r>
              <a:rPr sz="1950" b="1">
                <a:solidFill>
                  <a:srgbClr val="102A3C"/>
                </a:solidFill>
                <a:latin typeface="DM Sans"/>
                <a:ea typeface="DM Sans"/>
                <a:cs typeface="DM Sans"/>
              </a:rPr>
              <a:t>This participant-level RCT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94FA9F5-8817-49D0-9BF0-5A2F20AD2656}"/>
              </a:ext>
            </a:extLst>
          </p:cNvPr>
          <p:cNvSpPr>
            <a:spLocks noGrp="1"/>
          </p:cNvSpPr>
          <p:nvPr/>
        </p:nvSpPr>
        <p:spPr>
          <a:xfrm>
            <a:off x="6589344" y="3429000"/>
            <a:ext cx="2952750" cy="1905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650" b="0">
                <a:solidFill>
                  <a:srgbClr val="253342"/>
                </a:solidFill>
                <a:latin typeface="DM Sans"/>
                <a:ea typeface="DM Sans"/>
                <a:cs typeface="DM Sans"/>
              </a:defRPr>
            </a:pPr>
            <a:r>
              <a:rPr sz="1650" b="0">
                <a:solidFill>
                  <a:srgbClr val="253342"/>
                </a:solidFill>
                <a:latin typeface="DM Sans"/>
                <a:ea typeface="DM Sans"/>
                <a:cs typeface="DM Sans"/>
              </a:rPr>
              <a:t>Real source missingness and published claims let us test faithful mapping, analysis and discrepancy reporting.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8B9E86D-207A-442A-96E3-7059D75C8E60}"/>
              </a:ext>
            </a:extLst>
          </p:cNvPr>
          <p:cNvSpPr>
            <a:spLocks noGrp="1"/>
          </p:cNvSpPr>
          <p:nvPr/>
        </p:nvSpPr>
        <p:spPr>
          <a:xfrm>
            <a:off x="762000" y="5572125"/>
            <a:ext cx="10572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75" b="1">
                <a:solidFill>
                  <a:srgbClr val="277C79"/>
                </a:solidFill>
                <a:latin typeface="DM Sans"/>
                <a:ea typeface="DM Sans"/>
                <a:cs typeface="DM Sans"/>
              </a:defRPr>
            </a:pPr>
            <a:r>
              <a:rPr sz="1575" b="1" dirty="0">
                <a:solidFill>
                  <a:srgbClr val="277C79"/>
                </a:solidFill>
                <a:latin typeface="DM Sans"/>
                <a:ea typeface="DM Sans"/>
                <a:cs typeface="DM Sans"/>
              </a:rPr>
              <a:t>The RCT tests replication of real trial data. </a:t>
            </a:r>
          </a:p>
        </p:txBody>
      </p:sp>
    </p:spTree>
    <p:extLst>
      <p:ext uri="{BB962C8B-B14F-4D97-AF65-F5344CB8AC3E}">
        <p14:creationId xmlns:p14="http://schemas.microsoft.com/office/powerpoint/2010/main" val="977859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7D3EAAA-806D-4D17-A725-1E06FC5E4E0A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00012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00" b="1">
                <a:solidFill>
                  <a:srgbClr val="277C79"/>
                </a:solidFill>
                <a:latin typeface="DM Sans"/>
                <a:ea typeface="DM Sans"/>
                <a:cs typeface="DM Sans"/>
              </a:defRPr>
            </a:pPr>
            <a:r>
              <a:rPr sz="1200" b="1">
                <a:solidFill>
                  <a:srgbClr val="277C79"/>
                </a:solidFill>
                <a:latin typeface="DM Sans"/>
                <a:ea typeface="DM Sans"/>
                <a:cs typeface="DM Sans"/>
              </a:rPr>
              <a:t>THE CLINICAL STUDY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654E489-CF50-4A1B-B84E-4177F0F2C156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104900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775" b="1">
                <a:solidFill>
                  <a:srgbClr val="102A3C"/>
                </a:solidFill>
                <a:latin typeface="DM Sans"/>
                <a:ea typeface="DM Sans"/>
                <a:cs typeface="DM Sans"/>
              </a:defRPr>
            </a:pPr>
            <a:r>
              <a:rPr sz="2775" b="1">
                <a:solidFill>
                  <a:srgbClr val="102A3C"/>
                </a:solidFill>
                <a:latin typeface="DM Sans"/>
                <a:ea typeface="DM Sans"/>
                <a:cs typeface="DM Sans"/>
              </a:rPr>
              <a:t>Wrist-ankle acupuncture plus medication versus medication alone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A0ADDA8-34B8-45DD-BC62-0B4AB2D98BE3}"/>
              </a:ext>
            </a:extLst>
          </p:cNvPr>
          <p:cNvSpPr>
            <a:spLocks noGrp="1"/>
          </p:cNvSpPr>
          <p:nvPr/>
        </p:nvSpPr>
        <p:spPr>
          <a:xfrm>
            <a:off x="609600" y="6448425"/>
            <a:ext cx="66675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75" b="1">
                <a:solidFill>
                  <a:srgbClr val="E6634F"/>
                </a:solidFill>
                <a:latin typeface="DM Sans"/>
                <a:ea typeface="DM Sans"/>
                <a:cs typeface="DM Sans"/>
              </a:defRPr>
            </a:pPr>
            <a:r>
              <a:rPr sz="975" b="1">
                <a:solidFill>
                  <a:srgbClr val="E6634F"/>
                </a:solidFill>
                <a:latin typeface="DM Sans"/>
                <a:ea typeface="DM Sans"/>
                <a:cs typeface="DM Sans"/>
              </a:rPr>
              <a:t>PUBLISHED RCT · PUBLIC SUMMARY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05C591A-1AA1-49B9-9A0B-25FCFCB9513C}"/>
              </a:ext>
            </a:extLst>
          </p:cNvPr>
          <p:cNvSpPr>
            <a:spLocks noGrp="1"/>
          </p:cNvSpPr>
          <p:nvPr/>
        </p:nvSpPr>
        <p:spPr>
          <a:xfrm>
            <a:off x="11287125" y="6448425"/>
            <a:ext cx="333375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975" b="0">
                <a:solidFill>
                  <a:srgbClr val="65727E"/>
                </a:solidFill>
                <a:latin typeface="DM Sans"/>
                <a:ea typeface="DM Sans"/>
                <a:cs typeface="DM Sans"/>
              </a:defRPr>
            </a:pPr>
            <a:r>
              <a:rPr sz="975" b="0">
                <a:solidFill>
                  <a:srgbClr val="65727E"/>
                </a:solidFill>
                <a:latin typeface="DM Sans"/>
                <a:ea typeface="DM Sans"/>
                <a:cs typeface="DM Sans"/>
              </a:rPr>
              <a:t>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6B47E2D-2895-4F46-830F-D98691B9E424}"/>
              </a:ext>
            </a:extLst>
          </p:cNvPr>
          <p:cNvSpPr>
            <a:spLocks noGrp="1"/>
          </p:cNvSpPr>
          <p:nvPr/>
        </p:nvSpPr>
        <p:spPr>
          <a:xfrm>
            <a:off x="4286250" y="6191250"/>
            <a:ext cx="73342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900" b="0">
                <a:solidFill>
                  <a:srgbClr val="65727E"/>
                </a:solidFill>
                <a:latin typeface="DM Sans"/>
                <a:ea typeface="DM Sans"/>
                <a:cs typeface="DM Sans"/>
              </a:defRPr>
            </a:pPr>
            <a:r>
              <a:rPr sz="900" b="0">
                <a:solidFill>
                  <a:srgbClr val="65727E"/>
                </a:solidFill>
                <a:latin typeface="DM Sans"/>
                <a:ea typeface="DM Sans"/>
                <a:cs typeface="DM Sans"/>
              </a:rPr>
              <a:t>Source: Pu et al., PLOS One 2025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C6E1EC9-F395-4C8C-9F93-B2B44FC8B7DC}"/>
              </a:ext>
            </a:extLst>
          </p:cNvPr>
          <p:cNvSpPr>
            <a:spLocks noGrp="1"/>
          </p:cNvSpPr>
          <p:nvPr/>
        </p:nvSpPr>
        <p:spPr>
          <a:xfrm>
            <a:off x="800100" y="1847850"/>
            <a:ext cx="2667000" cy="876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6000" b="1">
                <a:solidFill>
                  <a:srgbClr val="277C79"/>
                </a:solidFill>
                <a:latin typeface="DM Sans"/>
                <a:ea typeface="DM Sans"/>
                <a:cs typeface="DM Sans"/>
              </a:defRPr>
            </a:pPr>
            <a:r>
              <a:rPr sz="6000" b="1">
                <a:solidFill>
                  <a:srgbClr val="277C79"/>
                </a:solidFill>
                <a:latin typeface="DM Sans"/>
                <a:ea typeface="DM Sans"/>
                <a:cs typeface="DM Sans"/>
              </a:rPr>
              <a:t>106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682BDD1-3DEA-443A-97BD-51C92980BC73}"/>
              </a:ext>
            </a:extLst>
          </p:cNvPr>
          <p:cNvSpPr>
            <a:spLocks noGrp="1"/>
          </p:cNvSpPr>
          <p:nvPr/>
        </p:nvSpPr>
        <p:spPr>
          <a:xfrm>
            <a:off x="809625" y="2695575"/>
            <a:ext cx="28575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00" b="0">
                <a:solidFill>
                  <a:srgbClr val="253342"/>
                </a:solidFill>
                <a:latin typeface="DM Sans"/>
                <a:ea typeface="DM Sans"/>
                <a:cs typeface="DM Sans"/>
              </a:defRPr>
            </a:pPr>
            <a:r>
              <a:rPr sz="1800" b="0">
                <a:solidFill>
                  <a:srgbClr val="253342"/>
                </a:solidFill>
                <a:latin typeface="DM Sans"/>
                <a:ea typeface="DM Sans"/>
                <a:cs typeface="DM Sans"/>
              </a:rPr>
              <a:t>randomized participants</a:t>
            </a:r>
          </a:p>
        </p:txBody>
      </p:sp>
      <p:graphicFrame>
        <p:nvGraphicFramePr>
          <p:cNvPr id="22" name="Table 21"/>
          <p:cNvGraphicFramePr/>
          <p:nvPr/>
        </p:nvGraphicFramePr>
        <p:xfrm>
          <a:off x="4143375" y="1990725"/>
          <a:ext cx="7239000" cy="2000250"/>
        </p:xfrm>
        <a:graphic>
          <a:graphicData uri="http://schemas.openxmlformats.org/drawingml/2006/table">
            <a:tbl>
              <a:tblPr firstRow="1" bandRow="1"/>
              <a:tblGrid>
                <a:gridCol w="20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05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67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</a:rPr>
                        <a:t>Assigned group</a:t>
                      </a:r>
                    </a:p>
                  </a:txBody>
                  <a:tcPr>
                    <a:solidFill>
                      <a:srgbClr val="102A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</a:rPr>
                        <a:t>Participants</a:t>
                      </a:r>
                    </a:p>
                  </a:txBody>
                  <a:tcPr>
                    <a:solidFill>
                      <a:srgbClr val="102A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</a:rPr>
                        <a:t>Protocol treatment</a:t>
                      </a:r>
                    </a:p>
                  </a:txBody>
                  <a:tcPr>
                    <a:solidFill>
                      <a:srgbClr val="102A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53342"/>
                          </a:solidFill>
                          <a:latin typeface="DM Sans"/>
                          <a:ea typeface="DM Sans"/>
                          <a:cs typeface="DM Sans"/>
                        </a:rPr>
                        <a:t>Control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53342"/>
                          </a:solidFill>
                          <a:latin typeface="DM Sans"/>
                          <a:ea typeface="DM Sans"/>
                          <a:cs typeface="DM Sans"/>
                        </a:rPr>
                        <a:t>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53342"/>
                          </a:solidFill>
                          <a:latin typeface="DM Sans"/>
                          <a:ea typeface="DM Sans"/>
                          <a:cs typeface="DM Sans"/>
                        </a:rPr>
                        <a:t>Standard pharmacological treatment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53342"/>
                          </a:solidFill>
                          <a:latin typeface="DM Sans"/>
                          <a:ea typeface="DM Sans"/>
                          <a:cs typeface="DM Sans"/>
                        </a:rPr>
                        <a:t>Experimental</a:t>
                      </a:r>
                    </a:p>
                  </a:txBody>
                  <a:tcPr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53342"/>
                          </a:solidFill>
                          <a:latin typeface="DM Sans"/>
                          <a:ea typeface="DM Sans"/>
                          <a:cs typeface="DM Sans"/>
                        </a:rPr>
                        <a:t>54</a:t>
                      </a:r>
                    </a:p>
                  </a:txBody>
                  <a:tcPr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53342"/>
                          </a:solidFill>
                          <a:latin typeface="DM Sans"/>
                          <a:ea typeface="DM Sans"/>
                          <a:cs typeface="DM Sans"/>
                        </a:rPr>
                        <a:t>Wrist-ankle acupuncture plus standard medication</a:t>
                      </a:r>
                    </a:p>
                  </a:txBody>
                  <a:tcPr>
                    <a:solidFill>
                      <a:srgbClr val="EA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504810DA-C205-40C3-8F42-BB584EE0945A}"/>
              </a:ext>
            </a:extLst>
          </p:cNvPr>
          <p:cNvSpPr>
            <a:spLocks noGrp="1"/>
          </p:cNvSpPr>
          <p:nvPr/>
        </p:nvSpPr>
        <p:spPr>
          <a:xfrm>
            <a:off x="809625" y="4200190"/>
            <a:ext cx="32385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725" b="1">
                <a:solidFill>
                  <a:srgbClr val="102A3C"/>
                </a:solidFill>
                <a:latin typeface="DM Sans"/>
                <a:ea typeface="DM Sans"/>
                <a:cs typeface="DM Sans"/>
              </a:defRPr>
            </a:pPr>
            <a:r>
              <a:rPr sz="1725" b="1">
                <a:solidFill>
                  <a:srgbClr val="102A3C"/>
                </a:solidFill>
                <a:latin typeface="DM Sans"/>
                <a:ea typeface="DM Sans"/>
                <a:cs typeface="DM Sans"/>
              </a:rPr>
              <a:t>Published primary outcome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C27C5F4-20E7-4B6B-946E-55148D9DF2A2}"/>
              </a:ext>
            </a:extLst>
          </p:cNvPr>
          <p:cNvSpPr>
            <a:spLocks noGrp="1"/>
          </p:cNvSpPr>
          <p:nvPr/>
        </p:nvSpPr>
        <p:spPr>
          <a:xfrm>
            <a:off x="809625" y="4600240"/>
            <a:ext cx="5810250" cy="504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025" b="0">
                <a:solidFill>
                  <a:srgbClr val="253342"/>
                </a:solidFill>
                <a:latin typeface="DM Sans"/>
                <a:ea typeface="DM Sans"/>
                <a:cs typeface="DM Sans"/>
              </a:defRPr>
            </a:pPr>
            <a:r>
              <a:rPr sz="2025" b="0">
                <a:solidFill>
                  <a:srgbClr val="253342"/>
                </a:solidFill>
                <a:latin typeface="DM Sans"/>
                <a:ea typeface="DM Sans"/>
                <a:cs typeface="DM Sans"/>
              </a:rPr>
              <a:t>Complete absence of pain by day 7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A75A579-2EE2-4D8F-ACF6-5C0EB86A7817}"/>
              </a:ext>
            </a:extLst>
          </p:cNvPr>
          <p:cNvSpPr>
            <a:spLocks noGrp="1"/>
          </p:cNvSpPr>
          <p:nvPr/>
        </p:nvSpPr>
        <p:spPr>
          <a:xfrm>
            <a:off x="6953250" y="4200190"/>
            <a:ext cx="333375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725" b="1">
                <a:solidFill>
                  <a:srgbClr val="102A3C"/>
                </a:solidFill>
                <a:latin typeface="DM Sans"/>
                <a:ea typeface="DM Sans"/>
                <a:cs typeface="DM Sans"/>
              </a:defRPr>
            </a:pPr>
            <a:r>
              <a:rPr sz="1725" b="1">
                <a:solidFill>
                  <a:srgbClr val="102A3C"/>
                </a:solidFill>
                <a:latin typeface="DM Sans"/>
                <a:ea typeface="DM Sans"/>
                <a:cs typeface="DM Sans"/>
              </a:rPr>
              <a:t>Other source outcomes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FC9DC63-F7A2-4211-9EC6-9AF423776890}"/>
              </a:ext>
            </a:extLst>
          </p:cNvPr>
          <p:cNvSpPr>
            <a:spLocks noGrp="1"/>
          </p:cNvSpPr>
          <p:nvPr/>
        </p:nvSpPr>
        <p:spPr>
          <a:xfrm>
            <a:off x="6953250" y="4600240"/>
            <a:ext cx="4429125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75" b="0">
                <a:solidFill>
                  <a:srgbClr val="253342"/>
                </a:solidFill>
                <a:latin typeface="DM Sans"/>
                <a:ea typeface="DM Sans"/>
                <a:cs typeface="DM Sans"/>
              </a:defRPr>
            </a:pPr>
            <a:r>
              <a:rPr sz="1575" b="0">
                <a:solidFill>
                  <a:srgbClr val="253342"/>
                </a:solidFill>
                <a:latin typeface="DM Sans"/>
                <a:ea typeface="DM Sans"/>
                <a:cs typeface="DM Sans"/>
              </a:rPr>
              <a:t>Daily VAS, day-28 VAS and safety flags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C7C7436-A077-473E-9ABB-D9DCCC72E340}"/>
              </a:ext>
            </a:extLst>
          </p:cNvPr>
          <p:cNvSpPr>
            <a:spLocks noGrp="1"/>
          </p:cNvSpPr>
          <p:nvPr/>
        </p:nvSpPr>
        <p:spPr>
          <a:xfrm>
            <a:off x="6953250" y="5038390"/>
            <a:ext cx="4429125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00" b="1">
                <a:solidFill>
                  <a:srgbClr val="277C79"/>
                </a:solidFill>
                <a:latin typeface="DM Sans"/>
                <a:ea typeface="DM Sans"/>
                <a:cs typeface="DM Sans"/>
              </a:defRPr>
            </a:pPr>
            <a:r>
              <a:rPr sz="1500" b="1">
                <a:solidFill>
                  <a:srgbClr val="277C79"/>
                </a:solidFill>
                <a:latin typeface="DM Sans"/>
                <a:ea typeface="DM Sans"/>
                <a:cs typeface="DM Sans"/>
              </a:rPr>
              <a:t>DLQI = Dermatology Life Quality Index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DB14F85-D673-42F7-86E3-7BDCA94EA6C3}"/>
              </a:ext>
            </a:extLst>
          </p:cNvPr>
          <p:cNvSpPr>
            <a:spLocks noGrp="1"/>
          </p:cNvSpPr>
          <p:nvPr/>
        </p:nvSpPr>
        <p:spPr>
          <a:xfrm>
            <a:off x="6953250" y="5400340"/>
            <a:ext cx="4429125" cy="3905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75" b="0">
                <a:solidFill>
                  <a:srgbClr val="65727E"/>
                </a:solidFill>
                <a:latin typeface="DM Sans"/>
                <a:ea typeface="DM Sans"/>
                <a:cs typeface="DM Sans"/>
              </a:defRPr>
            </a:pPr>
            <a:r>
              <a:rPr sz="1275" b="0">
                <a:solidFill>
                  <a:srgbClr val="65727E"/>
                </a:solidFill>
                <a:latin typeface="DM Sans"/>
                <a:ea typeface="DM Sans"/>
                <a:cs typeface="DM Sans"/>
              </a:rPr>
              <a:t>10 questions; scores 0–30, higher means greater impact on daily life.</a:t>
            </a:r>
          </a:p>
        </p:txBody>
      </p:sp>
    </p:spTree>
    <p:extLst>
      <p:ext uri="{BB962C8B-B14F-4D97-AF65-F5344CB8AC3E}">
        <p14:creationId xmlns:p14="http://schemas.microsoft.com/office/powerpoint/2010/main" val="17740403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23FAACC6-EA54-40CB-827F-FCF59FF3AA83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00012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00" b="1">
                <a:solidFill>
                  <a:srgbClr val="277C79"/>
                </a:solidFill>
                <a:latin typeface="DM Sans"/>
                <a:ea typeface="DM Sans"/>
                <a:cs typeface="DM Sans"/>
              </a:defRPr>
            </a:pPr>
            <a:r>
              <a:rPr sz="1200" b="1">
                <a:solidFill>
                  <a:srgbClr val="277C79"/>
                </a:solidFill>
                <a:latin typeface="DM Sans"/>
                <a:ea typeface="DM Sans"/>
                <a:cs typeface="DM Sans"/>
              </a:rPr>
              <a:t>OMOP QUALITY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D5C95DD-F3A2-4EE7-98D4-99B88A6500D6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104900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775" b="1">
                <a:solidFill>
                  <a:srgbClr val="102A3C"/>
                </a:solidFill>
                <a:latin typeface="DM Sans"/>
                <a:ea typeface="DM Sans"/>
                <a:cs typeface="DM Sans"/>
              </a:defRPr>
            </a:pPr>
            <a:r>
              <a:rPr sz="2775" b="1">
                <a:solidFill>
                  <a:srgbClr val="102A3C"/>
                </a:solidFill>
                <a:latin typeface="DM Sans"/>
                <a:ea typeface="DM Sans"/>
                <a:cs typeface="DM Sans"/>
              </a:rPr>
              <a:t>Missing project tables limited DQD execution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475E9D0-A104-4609-8D34-7E7465A6D877}"/>
              </a:ext>
            </a:extLst>
          </p:cNvPr>
          <p:cNvSpPr>
            <a:spLocks noGrp="1"/>
          </p:cNvSpPr>
          <p:nvPr/>
        </p:nvSpPr>
        <p:spPr>
          <a:xfrm>
            <a:off x="609600" y="6448425"/>
            <a:ext cx="66675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75" b="1">
                <a:solidFill>
                  <a:srgbClr val="E6634F"/>
                </a:solidFill>
                <a:latin typeface="DM Sans"/>
                <a:ea typeface="DM Sans"/>
                <a:cs typeface="DM Sans"/>
              </a:defRPr>
            </a:pPr>
            <a:r>
              <a:rPr sz="975" b="1">
                <a:solidFill>
                  <a:srgbClr val="E6634F"/>
                </a:solidFill>
                <a:latin typeface="DM Sans"/>
                <a:ea typeface="DM Sans"/>
                <a:cs typeface="DM Sans"/>
              </a:rPr>
              <a:t>PUBLISHED RCT · PUBLIC SUMMARY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67FBF72-E1A0-4897-BD58-569636F7C36B}"/>
              </a:ext>
            </a:extLst>
          </p:cNvPr>
          <p:cNvSpPr>
            <a:spLocks noGrp="1"/>
          </p:cNvSpPr>
          <p:nvPr/>
        </p:nvSpPr>
        <p:spPr>
          <a:xfrm>
            <a:off x="11287125" y="6448425"/>
            <a:ext cx="333375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975" b="0">
                <a:solidFill>
                  <a:srgbClr val="65727E"/>
                </a:solidFill>
                <a:latin typeface="DM Sans"/>
                <a:ea typeface="DM Sans"/>
                <a:cs typeface="DM Sans"/>
              </a:defRPr>
            </a:pPr>
            <a:r>
              <a:rPr sz="975" b="0">
                <a:solidFill>
                  <a:srgbClr val="65727E"/>
                </a:solidFill>
                <a:latin typeface="DM Sans"/>
                <a:ea typeface="DM Sans"/>
                <a:cs typeface="DM Sans"/>
              </a:rPr>
              <a:t>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086DA56-FE7A-4E85-AE4D-A5BFC13FC885}"/>
              </a:ext>
            </a:extLst>
          </p:cNvPr>
          <p:cNvSpPr>
            <a:spLocks noGrp="1"/>
          </p:cNvSpPr>
          <p:nvPr/>
        </p:nvSpPr>
        <p:spPr>
          <a:xfrm>
            <a:off x="4286250" y="6191250"/>
            <a:ext cx="73342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900" b="0">
                <a:solidFill>
                  <a:srgbClr val="65727E"/>
                </a:solidFill>
                <a:latin typeface="DM Sans"/>
                <a:ea typeface="DM Sans"/>
                <a:cs typeface="DM Sans"/>
              </a:defRPr>
            </a:pPr>
            <a:r>
              <a:rPr sz="900" b="0">
                <a:solidFill>
                  <a:srgbClr val="65727E"/>
                </a:solidFill>
                <a:latin typeface="DM Sans"/>
                <a:ea typeface="DM Sans"/>
                <a:cs typeface="DM Sans"/>
              </a:rPr>
              <a:t>Source: V003 DQD adjudication, 24 Sep 2026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765EE17-D549-4CC1-8A75-AAB16323FABA}"/>
              </a:ext>
            </a:extLst>
          </p:cNvPr>
          <p:cNvSpPr>
            <a:spLocks noGrp="1"/>
          </p:cNvSpPr>
          <p:nvPr/>
        </p:nvSpPr>
        <p:spPr>
          <a:xfrm>
            <a:off x="723900" y="1809750"/>
            <a:ext cx="3286125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3825" b="1">
                <a:solidFill>
                  <a:srgbClr val="277C79"/>
                </a:solidFill>
                <a:latin typeface="DM Sans"/>
                <a:ea typeface="DM Sans"/>
                <a:cs typeface="DM Sans"/>
              </a:defRPr>
            </a:pPr>
            <a:r>
              <a:rPr sz="3825" b="1">
                <a:solidFill>
                  <a:srgbClr val="277C79"/>
                </a:solidFill>
                <a:latin typeface="DM Sans"/>
                <a:ea typeface="DM Sans"/>
                <a:cs typeface="DM Sans"/>
              </a:rPr>
              <a:t>669 / 697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5BAC282-4112-474E-A7C5-71D2213FE373}"/>
              </a:ext>
            </a:extLst>
          </p:cNvPr>
          <p:cNvSpPr>
            <a:spLocks noGrp="1"/>
          </p:cNvSpPr>
          <p:nvPr/>
        </p:nvSpPr>
        <p:spPr>
          <a:xfrm>
            <a:off x="742950" y="2543175"/>
            <a:ext cx="3810000" cy="3524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650" b="0">
                <a:solidFill>
                  <a:srgbClr val="253342"/>
                </a:solidFill>
                <a:latin typeface="DM Sans"/>
                <a:ea typeface="DM Sans"/>
                <a:cs typeface="DM Sans"/>
              </a:defRPr>
            </a:pPr>
            <a:r>
              <a:rPr sz="1650" b="0">
                <a:solidFill>
                  <a:srgbClr val="253342"/>
                </a:solidFill>
                <a:latin typeface="DM Sans"/>
                <a:ea typeface="DM Sans"/>
                <a:cs typeface="DM Sans"/>
              </a:rPr>
              <a:t>completed checks passed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5EDD3E2-7031-4036-8041-7D8D2BB9A864}"/>
              </a:ext>
            </a:extLst>
          </p:cNvPr>
          <p:cNvSpPr>
            <a:spLocks noGrp="1"/>
          </p:cNvSpPr>
          <p:nvPr/>
        </p:nvSpPr>
        <p:spPr>
          <a:xfrm>
            <a:off x="5000625" y="1809750"/>
            <a:ext cx="1476375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3825" b="1">
                <a:solidFill>
                  <a:srgbClr val="E6634F"/>
                </a:solidFill>
                <a:latin typeface="DM Sans"/>
                <a:ea typeface="DM Sans"/>
                <a:cs typeface="DM Sans"/>
              </a:defRPr>
            </a:pPr>
            <a:r>
              <a:rPr sz="3825" b="1">
                <a:solidFill>
                  <a:srgbClr val="E6634F"/>
                </a:solidFill>
                <a:latin typeface="DM Sans"/>
                <a:ea typeface="DM Sans"/>
                <a:cs typeface="DM Sans"/>
              </a:rPr>
              <a:t>28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50C53A5-807A-4BFA-BAD7-1737ED50EBE9}"/>
              </a:ext>
            </a:extLst>
          </p:cNvPr>
          <p:cNvSpPr>
            <a:spLocks noGrp="1"/>
          </p:cNvSpPr>
          <p:nvPr/>
        </p:nvSpPr>
        <p:spPr>
          <a:xfrm>
            <a:off x="5000625" y="2543175"/>
            <a:ext cx="2095500" cy="3524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650" b="0">
                <a:solidFill>
                  <a:srgbClr val="253342"/>
                </a:solidFill>
                <a:latin typeface="DM Sans"/>
                <a:ea typeface="DM Sans"/>
                <a:cs typeface="DM Sans"/>
              </a:defRPr>
            </a:pPr>
            <a:r>
              <a:rPr sz="1650" b="0">
                <a:solidFill>
                  <a:srgbClr val="253342"/>
                </a:solidFill>
                <a:latin typeface="DM Sans"/>
                <a:ea typeface="DM Sans"/>
                <a:cs typeface="DM Sans"/>
              </a:rPr>
              <a:t>failed checks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68C6059-80C7-4CEF-AA2C-6240B22C34EC}"/>
              </a:ext>
            </a:extLst>
          </p:cNvPr>
          <p:cNvSpPr>
            <a:spLocks noGrp="1"/>
          </p:cNvSpPr>
          <p:nvPr/>
        </p:nvSpPr>
        <p:spPr>
          <a:xfrm>
            <a:off x="8191500" y="1809750"/>
            <a:ext cx="171450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3825" b="1">
                <a:solidFill>
                  <a:srgbClr val="E6634F"/>
                </a:solidFill>
                <a:latin typeface="DM Sans"/>
                <a:ea typeface="DM Sans"/>
                <a:cs typeface="DM Sans"/>
              </a:defRPr>
            </a:pPr>
            <a:r>
              <a:rPr sz="3825" b="1">
                <a:solidFill>
                  <a:srgbClr val="E6634F"/>
                </a:solidFill>
                <a:latin typeface="DM Sans"/>
                <a:ea typeface="DM Sans"/>
                <a:cs typeface="DM Sans"/>
              </a:rPr>
              <a:t>708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C92277F-56CE-44ED-B173-0AA19FB97A37}"/>
              </a:ext>
            </a:extLst>
          </p:cNvPr>
          <p:cNvSpPr>
            <a:spLocks noGrp="1"/>
          </p:cNvSpPr>
          <p:nvPr/>
        </p:nvSpPr>
        <p:spPr>
          <a:xfrm>
            <a:off x="8191500" y="2543175"/>
            <a:ext cx="2619375" cy="3524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650" b="0">
                <a:solidFill>
                  <a:srgbClr val="253342"/>
                </a:solidFill>
                <a:latin typeface="DM Sans"/>
                <a:ea typeface="DM Sans"/>
                <a:cs typeface="DM Sans"/>
              </a:defRPr>
            </a:pPr>
            <a:r>
              <a:rPr sz="1650" b="0">
                <a:solidFill>
                  <a:srgbClr val="253342"/>
                </a:solidFill>
                <a:latin typeface="DM Sans"/>
                <a:ea typeface="DM Sans"/>
                <a:cs typeface="DM Sans"/>
              </a:rPr>
              <a:t>execution errors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B460B22-143C-4E96-BDC5-EA19BA830E40}"/>
              </a:ext>
            </a:extLst>
          </p:cNvPr>
          <p:cNvSpPr>
            <a:spLocks noGrp="1"/>
          </p:cNvSpPr>
          <p:nvPr/>
        </p:nvSpPr>
        <p:spPr>
          <a:xfrm>
            <a:off x="733425" y="3267075"/>
            <a:ext cx="1081087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00" b="1">
                <a:solidFill>
                  <a:srgbClr val="102A3C"/>
                </a:solidFill>
                <a:latin typeface="DM Sans"/>
                <a:ea typeface="DM Sans"/>
                <a:cs typeface="DM Sans"/>
              </a:defRPr>
            </a:pPr>
            <a:r>
              <a:rPr sz="1800" b="1" dirty="0">
                <a:solidFill>
                  <a:srgbClr val="102A3C"/>
                </a:solidFill>
                <a:latin typeface="DM Sans"/>
                <a:ea typeface="DM Sans"/>
                <a:cs typeface="DM Sans"/>
              </a:rPr>
              <a:t>A limited </a:t>
            </a:r>
            <a:r>
              <a:rPr lang="en-US" sz="1800" b="1" dirty="0">
                <a:solidFill>
                  <a:srgbClr val="102A3C"/>
                </a:solidFill>
                <a:latin typeface="DM Sans"/>
                <a:ea typeface="DM Sans"/>
                <a:cs typeface="DM Sans"/>
              </a:rPr>
              <a:t>data </a:t>
            </a:r>
            <a:r>
              <a:rPr sz="1800" b="1" dirty="0">
                <a:solidFill>
                  <a:srgbClr val="102A3C"/>
                </a:solidFill>
                <a:latin typeface="DM Sans"/>
                <a:ea typeface="DM Sans"/>
                <a:cs typeface="DM Sans"/>
              </a:rPr>
              <a:t>source left 14 tables absent, causing all 708 DQD execution errors.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2B77E65-A9FA-4967-B6AD-A7A20381137E}"/>
              </a:ext>
            </a:extLst>
          </p:cNvPr>
          <p:cNvSpPr>
            <a:spLocks noGrp="1"/>
          </p:cNvSpPr>
          <p:nvPr/>
        </p:nvSpPr>
        <p:spPr>
          <a:xfrm>
            <a:off x="762000" y="4000500"/>
            <a:ext cx="33337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425" b="1">
                <a:solidFill>
                  <a:srgbClr val="277C79"/>
                </a:solidFill>
                <a:latin typeface="DM Sans"/>
                <a:ea typeface="DM Sans"/>
                <a:cs typeface="DM Sans"/>
              </a:defRPr>
            </a:pPr>
            <a:r>
              <a:rPr sz="1425" b="1">
                <a:solidFill>
                  <a:srgbClr val="277C79"/>
                </a:solidFill>
                <a:latin typeface="DM Sans"/>
                <a:ea typeface="DM Sans"/>
                <a:cs typeface="DM Sans"/>
              </a:rPr>
              <a:t>Clinical and documentation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3BC44A2-90D7-45AE-81BC-64420BB3B0FC}"/>
              </a:ext>
            </a:extLst>
          </p:cNvPr>
          <p:cNvSpPr>
            <a:spLocks noGrp="1"/>
          </p:cNvSpPr>
          <p:nvPr/>
        </p:nvSpPr>
        <p:spPr>
          <a:xfrm>
            <a:off x="762000" y="4362450"/>
            <a:ext cx="3333750" cy="1285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425" b="0">
                <a:solidFill>
                  <a:srgbClr val="253342"/>
                </a:solidFill>
                <a:latin typeface="DM Sans"/>
                <a:ea typeface="DM Sans"/>
                <a:cs typeface="DM Sans"/>
              </a:defRPr>
            </a:pPr>
            <a:r>
              <a:rPr sz="1425" b="0" dirty="0">
                <a:solidFill>
                  <a:srgbClr val="253342"/>
                </a:solidFill>
                <a:latin typeface="DM Sans"/>
                <a:ea typeface="DM Sans"/>
                <a:cs typeface="DM Sans"/>
              </a:rPr>
              <a:t>DEATH, DEVICE_EXPOSURE, VISIT_DETAIL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2788E6F-9EC8-4B40-BE5F-9B797B95E434}"/>
              </a:ext>
            </a:extLst>
          </p:cNvPr>
          <p:cNvSpPr>
            <a:spLocks noGrp="1"/>
          </p:cNvSpPr>
          <p:nvPr/>
        </p:nvSpPr>
        <p:spPr>
          <a:xfrm>
            <a:off x="4524375" y="4000500"/>
            <a:ext cx="33337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425" b="1">
                <a:solidFill>
                  <a:srgbClr val="277C79"/>
                </a:solidFill>
                <a:latin typeface="DM Sans"/>
                <a:ea typeface="DM Sans"/>
                <a:cs typeface="DM Sans"/>
              </a:defRPr>
            </a:pPr>
            <a:r>
              <a:rPr sz="1425" b="1">
                <a:solidFill>
                  <a:srgbClr val="277C79"/>
                </a:solidFill>
                <a:latin typeface="DM Sans"/>
                <a:ea typeface="DM Sans"/>
                <a:cs typeface="DM Sans"/>
              </a:rPr>
              <a:t>Derived and relationships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545D9AF-92CA-4B71-8002-77AED81C1D03}"/>
              </a:ext>
            </a:extLst>
          </p:cNvPr>
          <p:cNvSpPr>
            <a:spLocks noGrp="1"/>
          </p:cNvSpPr>
          <p:nvPr/>
        </p:nvSpPr>
        <p:spPr>
          <a:xfrm>
            <a:off x="4524375" y="4362450"/>
            <a:ext cx="3333750" cy="1285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425" b="0">
                <a:solidFill>
                  <a:srgbClr val="253342"/>
                </a:solidFill>
                <a:latin typeface="DM Sans"/>
                <a:ea typeface="DM Sans"/>
                <a:cs typeface="DM Sans"/>
              </a:defRPr>
            </a:pPr>
            <a:r>
              <a:rPr sz="1425" b="0" dirty="0">
                <a:solidFill>
                  <a:srgbClr val="253342"/>
                </a:solidFill>
                <a:latin typeface="DM Sans"/>
                <a:ea typeface="DM Sans"/>
                <a:cs typeface="DM Sans"/>
              </a:rPr>
              <a:t>DRUG_ERA, DOSE_ERA, EPISODE</a:t>
            </a:r>
          </a:p>
        </p:txBody>
      </p:sp>
    </p:spTree>
    <p:extLst>
      <p:ext uri="{BB962C8B-B14F-4D97-AF65-F5344CB8AC3E}">
        <p14:creationId xmlns:p14="http://schemas.microsoft.com/office/powerpoint/2010/main" val="3560074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F9D93BC2-ED90-459B-BF49-82ACEC7E1D22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00012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00" b="1">
                <a:solidFill>
                  <a:srgbClr val="277C79"/>
                </a:solidFill>
                <a:latin typeface="DM Sans"/>
                <a:ea typeface="DM Sans"/>
                <a:cs typeface="DM Sans"/>
              </a:defRPr>
            </a:pPr>
            <a:r>
              <a:rPr sz="1200" b="1">
                <a:solidFill>
                  <a:srgbClr val="277C79"/>
                </a:solidFill>
                <a:latin typeface="DM Sans"/>
                <a:ea typeface="DM Sans"/>
                <a:cs typeface="DM Sans"/>
              </a:rPr>
              <a:t>REPLICATION METHODOLOGY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860E9D2-7DC4-44C1-BDE0-279FCA4615CB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104900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775" b="1">
                <a:solidFill>
                  <a:srgbClr val="102A3C"/>
                </a:solidFill>
                <a:latin typeface="DM Sans"/>
                <a:ea typeface="DM Sans"/>
                <a:cs typeface="DM Sans"/>
              </a:defRPr>
            </a:pPr>
            <a:r>
              <a:rPr sz="2775" b="1">
                <a:solidFill>
                  <a:srgbClr val="102A3C"/>
                </a:solidFill>
                <a:latin typeface="DM Sans"/>
                <a:ea typeface="DM Sans"/>
                <a:cs typeface="DM Sans"/>
              </a:rPr>
              <a:t>A locked rule defined cure before comparing groups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3AA1C49-EA0F-433F-A678-2E70361225E1}"/>
              </a:ext>
            </a:extLst>
          </p:cNvPr>
          <p:cNvSpPr>
            <a:spLocks noGrp="1"/>
          </p:cNvSpPr>
          <p:nvPr/>
        </p:nvSpPr>
        <p:spPr>
          <a:xfrm>
            <a:off x="609600" y="6448425"/>
            <a:ext cx="66675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75" b="1">
                <a:solidFill>
                  <a:srgbClr val="E6634F"/>
                </a:solidFill>
                <a:latin typeface="DM Sans"/>
                <a:ea typeface="DM Sans"/>
                <a:cs typeface="DM Sans"/>
              </a:defRPr>
            </a:pPr>
            <a:r>
              <a:rPr sz="975" b="1">
                <a:solidFill>
                  <a:srgbClr val="E6634F"/>
                </a:solidFill>
                <a:latin typeface="DM Sans"/>
                <a:ea typeface="DM Sans"/>
                <a:cs typeface="DM Sans"/>
              </a:rPr>
              <a:t>PUBLISHED RCT · PUBLIC SUMMARY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EB8725A-0FCB-4B64-9F8A-504B4F5CF122}"/>
              </a:ext>
            </a:extLst>
          </p:cNvPr>
          <p:cNvSpPr>
            <a:spLocks noGrp="1"/>
          </p:cNvSpPr>
          <p:nvPr/>
        </p:nvSpPr>
        <p:spPr>
          <a:xfrm>
            <a:off x="11287125" y="6448425"/>
            <a:ext cx="333375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975" b="0">
                <a:solidFill>
                  <a:srgbClr val="65727E"/>
                </a:solidFill>
                <a:latin typeface="DM Sans"/>
                <a:ea typeface="DM Sans"/>
                <a:cs typeface="DM Sans"/>
              </a:defRPr>
            </a:pPr>
            <a:r>
              <a:rPr sz="975" b="0">
                <a:solidFill>
                  <a:srgbClr val="65727E"/>
                </a:solidFill>
                <a:latin typeface="DM Sans"/>
                <a:ea typeface="DM Sans"/>
                <a:cs typeface="DM Sans"/>
              </a:rPr>
              <a:t>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A20C01-A14E-4B84-B70D-45FCFA68B6E9}"/>
              </a:ext>
            </a:extLst>
          </p:cNvPr>
          <p:cNvSpPr>
            <a:spLocks noGrp="1"/>
          </p:cNvSpPr>
          <p:nvPr/>
        </p:nvSpPr>
        <p:spPr>
          <a:xfrm>
            <a:off x="781050" y="2038350"/>
            <a:ext cx="3000375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400" b="1">
                <a:solidFill>
                  <a:srgbClr val="277C79"/>
                </a:solidFill>
                <a:latin typeface="DM Sans"/>
                <a:ea typeface="DM Sans"/>
                <a:cs typeface="DM Sans"/>
              </a:defRPr>
            </a:pPr>
            <a:r>
              <a:rPr sz="2400" b="1">
                <a:solidFill>
                  <a:srgbClr val="277C79"/>
                </a:solidFill>
                <a:latin typeface="DM Sans"/>
                <a:ea typeface="DM Sans"/>
                <a:cs typeface="DM Sans"/>
              </a:rPr>
              <a:t>01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9454A2-A4D0-448E-9DEB-D5376867B991}"/>
              </a:ext>
            </a:extLst>
          </p:cNvPr>
          <p:cNvSpPr>
            <a:spLocks noGrp="1"/>
          </p:cNvSpPr>
          <p:nvPr/>
        </p:nvSpPr>
        <p:spPr>
          <a:xfrm>
            <a:off x="781050" y="2590800"/>
            <a:ext cx="300037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950" b="1">
                <a:solidFill>
                  <a:srgbClr val="102A3C"/>
                </a:solidFill>
                <a:latin typeface="DM Sans"/>
                <a:ea typeface="DM Sans"/>
                <a:cs typeface="DM Sans"/>
              </a:defRPr>
            </a:pPr>
            <a:r>
              <a:rPr sz="1950" b="1">
                <a:solidFill>
                  <a:srgbClr val="102A3C"/>
                </a:solidFill>
                <a:latin typeface="DM Sans"/>
                <a:ea typeface="DM Sans"/>
                <a:cs typeface="DM Sans"/>
              </a:rPr>
              <a:t>All randomized people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34427C8-E742-4BB8-8D02-ADE78919366D}"/>
              </a:ext>
            </a:extLst>
          </p:cNvPr>
          <p:cNvSpPr>
            <a:spLocks noGrp="1"/>
          </p:cNvSpPr>
          <p:nvPr/>
        </p:nvSpPr>
        <p:spPr>
          <a:xfrm>
            <a:off x="781050" y="3324225"/>
            <a:ext cx="3000375" cy="1905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650" b="0">
                <a:solidFill>
                  <a:srgbClr val="253342"/>
                </a:solidFill>
                <a:latin typeface="DM Sans"/>
                <a:ea typeface="DM Sans"/>
                <a:cs typeface="DM Sans"/>
              </a:defRPr>
            </a:pPr>
            <a:r>
              <a:rPr sz="1650" b="0">
                <a:solidFill>
                  <a:srgbClr val="253342"/>
                </a:solidFill>
                <a:latin typeface="DM Sans"/>
                <a:ea typeface="DM Sans"/>
                <a:cs typeface="DM Sans"/>
              </a:rPr>
              <a:t>The analysis includes all 106 participants. Effects compare the experimental group with control.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0EC21F-8775-4F07-841B-5E3E9DCE2E47}"/>
              </a:ext>
            </a:extLst>
          </p:cNvPr>
          <p:cNvSpPr>
            <a:spLocks noGrp="1"/>
          </p:cNvSpPr>
          <p:nvPr/>
        </p:nvSpPr>
        <p:spPr>
          <a:xfrm>
            <a:off x="4457700" y="2038350"/>
            <a:ext cx="3000375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400" b="1">
                <a:solidFill>
                  <a:srgbClr val="277C79"/>
                </a:solidFill>
                <a:latin typeface="DM Sans"/>
                <a:ea typeface="DM Sans"/>
                <a:cs typeface="DM Sans"/>
              </a:defRPr>
            </a:pPr>
            <a:r>
              <a:rPr sz="2400" b="1">
                <a:solidFill>
                  <a:srgbClr val="277C79"/>
                </a:solidFill>
                <a:latin typeface="DM Sans"/>
                <a:ea typeface="DM Sans"/>
                <a:cs typeface="DM Sans"/>
              </a:rPr>
              <a:t>02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D85DBF7-E06A-44E8-9818-E6F40216DFD5}"/>
              </a:ext>
            </a:extLst>
          </p:cNvPr>
          <p:cNvSpPr>
            <a:spLocks noGrp="1"/>
          </p:cNvSpPr>
          <p:nvPr/>
        </p:nvSpPr>
        <p:spPr>
          <a:xfrm>
            <a:off x="4457700" y="2590800"/>
            <a:ext cx="3235872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950" b="1">
                <a:solidFill>
                  <a:srgbClr val="102A3C"/>
                </a:solidFill>
                <a:latin typeface="DM Sans"/>
                <a:ea typeface="DM Sans"/>
                <a:cs typeface="DM Sans"/>
              </a:defRPr>
            </a:pPr>
            <a:r>
              <a:rPr sz="1950" b="1" dirty="0">
                <a:solidFill>
                  <a:srgbClr val="102A3C"/>
                </a:solidFill>
                <a:latin typeface="DM Sans"/>
                <a:ea typeface="DM Sans"/>
                <a:cs typeface="DM Sans"/>
              </a:rPr>
              <a:t>Observed pain resolution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E83D4F4-69ED-43B3-A635-04C387371016}"/>
              </a:ext>
            </a:extLst>
          </p:cNvPr>
          <p:cNvSpPr>
            <a:spLocks noGrp="1"/>
          </p:cNvSpPr>
          <p:nvPr/>
        </p:nvSpPr>
        <p:spPr>
          <a:xfrm>
            <a:off x="4457700" y="3324225"/>
            <a:ext cx="3000375" cy="1905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650" b="0">
                <a:solidFill>
                  <a:srgbClr val="253342"/>
                </a:solidFill>
                <a:latin typeface="DM Sans"/>
                <a:ea typeface="DM Sans"/>
                <a:cs typeface="DM Sans"/>
              </a:defRPr>
            </a:pPr>
            <a:r>
              <a:rPr sz="1650" b="0">
                <a:solidFill>
                  <a:srgbClr val="253342"/>
                </a:solidFill>
                <a:latin typeface="DM Sans"/>
                <a:ea typeface="DM Sans"/>
                <a:cs typeface="DM Sans"/>
              </a:rPr>
              <a:t>The first observed VAS value of zero by day 7 establishes cure. A prior blank does not establish cure.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63EFC7D-A51A-435F-AF1C-AE766E785084}"/>
              </a:ext>
            </a:extLst>
          </p:cNvPr>
          <p:cNvSpPr>
            <a:spLocks noGrp="1"/>
          </p:cNvSpPr>
          <p:nvPr/>
        </p:nvSpPr>
        <p:spPr>
          <a:xfrm>
            <a:off x="8143875" y="2038350"/>
            <a:ext cx="3000375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400" b="1">
                <a:solidFill>
                  <a:srgbClr val="277C79"/>
                </a:solidFill>
                <a:latin typeface="DM Sans"/>
                <a:ea typeface="DM Sans"/>
                <a:cs typeface="DM Sans"/>
              </a:defRPr>
            </a:pPr>
            <a:r>
              <a:rPr sz="2400" b="1">
                <a:solidFill>
                  <a:srgbClr val="277C79"/>
                </a:solidFill>
                <a:latin typeface="DM Sans"/>
                <a:ea typeface="DM Sans"/>
                <a:cs typeface="DM Sans"/>
              </a:rPr>
              <a:t>03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A608A49-431E-403A-B2B4-449BE17F4A57}"/>
              </a:ext>
            </a:extLst>
          </p:cNvPr>
          <p:cNvSpPr>
            <a:spLocks noGrp="1"/>
          </p:cNvSpPr>
          <p:nvPr/>
        </p:nvSpPr>
        <p:spPr>
          <a:xfrm>
            <a:off x="8143875" y="2590800"/>
            <a:ext cx="300037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950" b="1">
                <a:solidFill>
                  <a:srgbClr val="102A3C"/>
                </a:solidFill>
                <a:latin typeface="DM Sans"/>
                <a:ea typeface="DM Sans"/>
                <a:cs typeface="DM Sans"/>
              </a:defRPr>
            </a:pPr>
            <a:r>
              <a:rPr sz="1950" b="1">
                <a:solidFill>
                  <a:srgbClr val="102A3C"/>
                </a:solidFill>
                <a:latin typeface="DM Sans"/>
                <a:ea typeface="DM Sans"/>
                <a:cs typeface="DM Sans"/>
              </a:rPr>
              <a:t>Post-cure missingness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0E11D03-AEE3-43FF-9984-0925C83FFC8F}"/>
              </a:ext>
            </a:extLst>
          </p:cNvPr>
          <p:cNvSpPr>
            <a:spLocks noGrp="1"/>
          </p:cNvSpPr>
          <p:nvPr/>
        </p:nvSpPr>
        <p:spPr>
          <a:xfrm>
            <a:off x="8143875" y="3324225"/>
            <a:ext cx="3000375" cy="1905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650" b="0">
                <a:solidFill>
                  <a:srgbClr val="253342"/>
                </a:solidFill>
                <a:latin typeface="DM Sans"/>
                <a:ea typeface="DM Sans"/>
                <a:cs typeface="DM Sans"/>
              </a:defRPr>
            </a:pPr>
            <a:r>
              <a:rPr sz="1650" b="0">
                <a:solidFill>
                  <a:srgbClr val="253342"/>
                </a:solidFill>
                <a:latin typeface="DM Sans"/>
                <a:ea typeface="DM Sans"/>
                <a:cs typeface="DM Sans"/>
              </a:rPr>
              <a:t>Blanks after that observed zero become derived zeros through day 7. Day 28 remains observed only.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9D04E03-977D-4351-928D-129FA090CF24}"/>
              </a:ext>
            </a:extLst>
          </p:cNvPr>
          <p:cNvSpPr>
            <a:spLocks noGrp="1"/>
          </p:cNvSpPr>
          <p:nvPr/>
        </p:nvSpPr>
        <p:spPr>
          <a:xfrm>
            <a:off x="790575" y="4928363"/>
            <a:ext cx="10382250" cy="371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950" b="1">
                <a:solidFill>
                  <a:srgbClr val="102A3C"/>
                </a:solidFill>
                <a:latin typeface="DM Sans"/>
                <a:ea typeface="DM Sans"/>
                <a:cs typeface="DM Sans"/>
              </a:defRPr>
            </a:pPr>
            <a:r>
              <a:rPr sz="1950" b="1" dirty="0">
                <a:solidFill>
                  <a:srgbClr val="102A3C"/>
                </a:solidFill>
                <a:latin typeface="DM Sans"/>
                <a:ea typeface="DM Sans"/>
                <a:cs typeface="DM Sans"/>
              </a:rPr>
              <a:t>Primary test: two-sided, uncorrected Pearson χ² at α = 0.05</a:t>
            </a:r>
          </a:p>
        </p:txBody>
      </p:sp>
    </p:spTree>
    <p:extLst>
      <p:ext uri="{BB962C8B-B14F-4D97-AF65-F5344CB8AC3E}">
        <p14:creationId xmlns:p14="http://schemas.microsoft.com/office/powerpoint/2010/main" val="18528169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41679D7-72BE-4BE3-8F80-0F0F65C61319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00012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00" b="1">
                <a:solidFill>
                  <a:srgbClr val="277C79"/>
                </a:solidFill>
                <a:latin typeface="DM Sans"/>
                <a:ea typeface="DM Sans"/>
                <a:cs typeface="DM Sans"/>
              </a:defRPr>
            </a:pPr>
            <a:r>
              <a:rPr sz="1200" b="1">
                <a:solidFill>
                  <a:srgbClr val="277C79"/>
                </a:solidFill>
                <a:latin typeface="DM Sans"/>
                <a:ea typeface="DM Sans"/>
                <a:cs typeface="DM Sans"/>
              </a:rPr>
              <a:t>PRIMARY RESULT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155C7E6-780F-44B8-AEA3-0D487057E5A2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104900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775" b="1">
                <a:solidFill>
                  <a:srgbClr val="102A3C"/>
                </a:solidFill>
                <a:latin typeface="DM Sans"/>
                <a:ea typeface="DM Sans"/>
                <a:cs typeface="DM Sans"/>
              </a:defRPr>
            </a:pPr>
            <a:r>
              <a:rPr sz="2775" b="1">
                <a:solidFill>
                  <a:srgbClr val="102A3C"/>
                </a:solidFill>
                <a:latin typeface="DM Sans"/>
                <a:ea typeface="DM Sans"/>
                <a:cs typeface="DM Sans"/>
              </a:rPr>
              <a:t>Day-7 pain cure favored the experimental assignment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25AAB90-0251-4EAC-8FE3-F951699423AF}"/>
              </a:ext>
            </a:extLst>
          </p:cNvPr>
          <p:cNvSpPr>
            <a:spLocks noGrp="1"/>
          </p:cNvSpPr>
          <p:nvPr/>
        </p:nvSpPr>
        <p:spPr>
          <a:xfrm>
            <a:off x="609600" y="6448425"/>
            <a:ext cx="66675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75" b="1">
                <a:solidFill>
                  <a:srgbClr val="E6634F"/>
                </a:solidFill>
                <a:latin typeface="DM Sans"/>
                <a:ea typeface="DM Sans"/>
                <a:cs typeface="DM Sans"/>
              </a:defRPr>
            </a:pPr>
            <a:r>
              <a:rPr sz="975" b="1">
                <a:solidFill>
                  <a:srgbClr val="E6634F"/>
                </a:solidFill>
                <a:latin typeface="DM Sans"/>
                <a:ea typeface="DM Sans"/>
                <a:cs typeface="DM Sans"/>
              </a:rPr>
              <a:t>PUBLISHED RCT · PUBLIC SUMMARY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A0E6304-1F79-4888-BFF9-8112243DBF39}"/>
              </a:ext>
            </a:extLst>
          </p:cNvPr>
          <p:cNvSpPr>
            <a:spLocks noGrp="1"/>
          </p:cNvSpPr>
          <p:nvPr/>
        </p:nvSpPr>
        <p:spPr>
          <a:xfrm>
            <a:off x="11287125" y="6448425"/>
            <a:ext cx="333375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975" b="0">
                <a:solidFill>
                  <a:srgbClr val="65727E"/>
                </a:solidFill>
                <a:latin typeface="DM Sans"/>
                <a:ea typeface="DM Sans"/>
                <a:cs typeface="DM Sans"/>
              </a:defRPr>
            </a:pPr>
            <a:r>
              <a:rPr sz="975" b="0">
                <a:solidFill>
                  <a:srgbClr val="65727E"/>
                </a:solidFill>
                <a:latin typeface="DM Sans"/>
                <a:ea typeface="DM Sans"/>
                <a:cs typeface="DM Sans"/>
              </a:rPr>
              <a:t>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F69AA1-4642-4164-8C00-BF3B5FDC90D7}"/>
              </a:ext>
            </a:extLst>
          </p:cNvPr>
          <p:cNvSpPr>
            <a:spLocks noGrp="1"/>
          </p:cNvSpPr>
          <p:nvPr/>
        </p:nvSpPr>
        <p:spPr>
          <a:xfrm>
            <a:off x="4286250" y="6191250"/>
            <a:ext cx="73342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900" b="0">
                <a:solidFill>
                  <a:srgbClr val="65727E"/>
                </a:solidFill>
                <a:latin typeface="DM Sans"/>
                <a:ea typeface="DM Sans"/>
                <a:cs typeface="DM Sans"/>
              </a:defRPr>
            </a:pPr>
            <a:r>
              <a:rPr sz="900" b="0">
                <a:solidFill>
                  <a:srgbClr val="65727E"/>
                </a:solidFill>
                <a:latin typeface="DM Sans"/>
                <a:ea typeface="DM Sans"/>
                <a:cs typeface="DM Sans"/>
              </a:rPr>
              <a:t>Source: primary_cure.csv; all 106 randomized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="781050" y="1952625"/>
          <a:ext cx="7334250" cy="304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033DC44F-E45D-41C1-89B0-D765DA4C9EE1}"/>
              </a:ext>
            </a:extLst>
          </p:cNvPr>
          <p:cNvSpPr>
            <a:spLocks noGrp="1"/>
          </p:cNvSpPr>
          <p:nvPr/>
        </p:nvSpPr>
        <p:spPr>
          <a:xfrm>
            <a:off x="3257550" y="5057775"/>
            <a:ext cx="2524125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275" b="0">
                <a:solidFill>
                  <a:srgbClr val="65727E"/>
                </a:solidFill>
                <a:latin typeface="DM Sans"/>
                <a:ea typeface="DM Sans"/>
                <a:cs typeface="DM Sans"/>
              </a:defRPr>
            </a:pPr>
            <a:r>
              <a:rPr sz="1275" b="0">
                <a:solidFill>
                  <a:srgbClr val="65727E"/>
                </a:solidFill>
                <a:latin typeface="DM Sans"/>
                <a:ea typeface="DM Sans"/>
                <a:cs typeface="DM Sans"/>
              </a:rPr>
              <a:t>Cure rate (%)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D7F480C-EDA4-4560-A05E-9C816B13363B}"/>
              </a:ext>
            </a:extLst>
          </p:cNvPr>
          <p:cNvSpPr>
            <a:spLocks noGrp="1"/>
          </p:cNvSpPr>
          <p:nvPr/>
        </p:nvSpPr>
        <p:spPr>
          <a:xfrm>
            <a:off x="8639175" y="2019300"/>
            <a:ext cx="24765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3900" b="1">
                <a:solidFill>
                  <a:srgbClr val="277C79"/>
                </a:solidFill>
                <a:latin typeface="DM Sans"/>
                <a:ea typeface="DM Sans"/>
                <a:cs typeface="DM Sans"/>
              </a:defRPr>
            </a:pPr>
            <a:r>
              <a:rPr sz="3900" b="1">
                <a:solidFill>
                  <a:srgbClr val="277C79"/>
                </a:solidFill>
                <a:latin typeface="DM Sans"/>
                <a:ea typeface="DM Sans"/>
                <a:cs typeface="DM Sans"/>
              </a:rPr>
              <a:t>21.65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7F0E97D-57EC-4E9A-9707-2B75495B22C4}"/>
              </a:ext>
            </a:extLst>
          </p:cNvPr>
          <p:cNvSpPr>
            <a:spLocks noGrp="1"/>
          </p:cNvSpPr>
          <p:nvPr/>
        </p:nvSpPr>
        <p:spPr>
          <a:xfrm>
            <a:off x="8667750" y="2667000"/>
            <a:ext cx="266700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75" b="0">
                <a:solidFill>
                  <a:srgbClr val="253342"/>
                </a:solidFill>
                <a:latin typeface="DM Sans"/>
                <a:ea typeface="DM Sans"/>
                <a:cs typeface="DM Sans"/>
              </a:defRPr>
            </a:pPr>
            <a:r>
              <a:rPr sz="1575" b="0">
                <a:solidFill>
                  <a:srgbClr val="253342"/>
                </a:solidFill>
                <a:latin typeface="DM Sans"/>
                <a:ea typeface="DM Sans"/>
                <a:cs typeface="DM Sans"/>
              </a:rPr>
              <a:t>percentage-point difference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2DB205-7548-49DA-8C2E-DBB40D16A0C4}"/>
              </a:ext>
            </a:extLst>
          </p:cNvPr>
          <p:cNvSpPr>
            <a:spLocks noGrp="1"/>
          </p:cNvSpPr>
          <p:nvPr/>
        </p:nvSpPr>
        <p:spPr>
          <a:xfrm>
            <a:off x="8667750" y="3552825"/>
            <a:ext cx="2667000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650" b="1">
                <a:solidFill>
                  <a:srgbClr val="102A3C"/>
                </a:solidFill>
                <a:latin typeface="DM Sans"/>
                <a:ea typeface="DM Sans"/>
                <a:cs typeface="DM Sans"/>
              </a:defRPr>
            </a:pPr>
            <a:r>
              <a:rPr sz="1650" b="1">
                <a:solidFill>
                  <a:srgbClr val="102A3C"/>
                </a:solidFill>
                <a:latin typeface="DM Sans"/>
                <a:ea typeface="DM Sans"/>
                <a:cs typeface="DM Sans"/>
              </a:rPr>
              <a:t>95% CI   5.44 to 36.73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1325550-CC0D-453B-AA7B-60566E0CEF2F}"/>
              </a:ext>
            </a:extLst>
          </p:cNvPr>
          <p:cNvSpPr>
            <a:spLocks noGrp="1"/>
          </p:cNvSpPr>
          <p:nvPr/>
        </p:nvSpPr>
        <p:spPr>
          <a:xfrm>
            <a:off x="8667750" y="4295775"/>
            <a:ext cx="2667000" cy="504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00" b="1">
                <a:solidFill>
                  <a:srgbClr val="102A3C"/>
                </a:solidFill>
                <a:latin typeface="DM Sans"/>
                <a:ea typeface="DM Sans"/>
                <a:cs typeface="DM Sans"/>
              </a:defRPr>
            </a:pPr>
            <a:r>
              <a:rPr sz="2100" b="1">
                <a:solidFill>
                  <a:srgbClr val="102A3C"/>
                </a:solidFill>
                <a:latin typeface="DM Sans"/>
                <a:ea typeface="DM Sans"/>
                <a:cs typeface="DM Sans"/>
              </a:rPr>
              <a:t>p = 0.008662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C1BF13A-355C-4CC1-B1D2-31AE74AAF03C}"/>
              </a:ext>
            </a:extLst>
          </p:cNvPr>
          <p:cNvSpPr>
            <a:spLocks noGrp="1"/>
          </p:cNvSpPr>
          <p:nvPr/>
        </p:nvSpPr>
        <p:spPr>
          <a:xfrm>
            <a:off x="819150" y="5419725"/>
            <a:ext cx="104775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75" b="0">
                <a:solidFill>
                  <a:srgbClr val="65727E"/>
                </a:solidFill>
                <a:latin typeface="DM Sans"/>
                <a:ea typeface="DM Sans"/>
                <a:cs typeface="DM Sans"/>
              </a:defRPr>
            </a:pPr>
            <a:r>
              <a:rPr sz="1575" b="0">
                <a:solidFill>
                  <a:srgbClr val="65727E"/>
                </a:solidFill>
                <a:latin typeface="DM Sans"/>
                <a:ea typeface="DM Sans"/>
                <a:cs typeface="DM Sans"/>
              </a:rPr>
              <a:t>Two-sided uncorrected Pearson χ²; all 106 randomized participants.</a:t>
            </a:r>
          </a:p>
        </p:txBody>
      </p:sp>
    </p:spTree>
    <p:extLst>
      <p:ext uri="{BB962C8B-B14F-4D97-AF65-F5344CB8AC3E}">
        <p14:creationId xmlns:p14="http://schemas.microsoft.com/office/powerpoint/2010/main" val="13772877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Rectangle 114">
            <a:extLst>
              <a:ext uri="{FF2B5EF4-FFF2-40B4-BE49-F238E27FC236}">
                <a16:creationId xmlns:a16="http://schemas.microsoft.com/office/drawing/2014/main" id="{BAE54875-471B-411E-87F6-06E9EC381705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00012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00" b="1">
                <a:solidFill>
                  <a:srgbClr val="277C79"/>
                </a:solidFill>
                <a:latin typeface="DM Sans"/>
                <a:ea typeface="DM Sans"/>
                <a:cs typeface="DM Sans"/>
              </a:defRPr>
            </a:pPr>
            <a:r>
              <a:rPr sz="1200" b="1">
                <a:solidFill>
                  <a:srgbClr val="277C79"/>
                </a:solidFill>
                <a:latin typeface="DM Sans"/>
                <a:ea typeface="DM Sans"/>
                <a:cs typeface="DM Sans"/>
              </a:rPr>
              <a:t>PAIN TRAJECTORY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0BCF2B2-E4AE-4C63-BE10-31007B9169B7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104900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775" b="1">
                <a:solidFill>
                  <a:srgbClr val="102A3C"/>
                </a:solidFill>
                <a:latin typeface="DM Sans"/>
                <a:ea typeface="DM Sans"/>
                <a:cs typeface="DM Sans"/>
              </a:defRPr>
            </a:pPr>
            <a:r>
              <a:rPr sz="2775" b="1">
                <a:solidFill>
                  <a:srgbClr val="102A3C"/>
                </a:solidFill>
                <a:latin typeface="DM Sans"/>
                <a:ea typeface="DM Sans"/>
                <a:cs typeface="DM Sans"/>
              </a:rPr>
              <a:t>Mean pain by group through day 28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3012AB2-0340-4180-A512-F5240C853901}"/>
              </a:ext>
            </a:extLst>
          </p:cNvPr>
          <p:cNvSpPr>
            <a:spLocks noGrp="1"/>
          </p:cNvSpPr>
          <p:nvPr/>
        </p:nvSpPr>
        <p:spPr>
          <a:xfrm>
            <a:off x="609600" y="6448425"/>
            <a:ext cx="66675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75" b="1">
                <a:solidFill>
                  <a:srgbClr val="E6634F"/>
                </a:solidFill>
                <a:latin typeface="DM Sans"/>
                <a:ea typeface="DM Sans"/>
                <a:cs typeface="DM Sans"/>
              </a:defRPr>
            </a:pPr>
            <a:r>
              <a:rPr sz="975" b="1">
                <a:solidFill>
                  <a:srgbClr val="E6634F"/>
                </a:solidFill>
                <a:latin typeface="DM Sans"/>
                <a:ea typeface="DM Sans"/>
                <a:cs typeface="DM Sans"/>
              </a:rPr>
              <a:t>PUBLISHED RCT · PUBLIC SUMMARY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9FA0CD-7F49-4BF1-8637-ABEBF7450F64}"/>
              </a:ext>
            </a:extLst>
          </p:cNvPr>
          <p:cNvSpPr>
            <a:spLocks noGrp="1"/>
          </p:cNvSpPr>
          <p:nvPr/>
        </p:nvSpPr>
        <p:spPr>
          <a:xfrm>
            <a:off x="11287125" y="6448425"/>
            <a:ext cx="333375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975" b="0">
                <a:solidFill>
                  <a:srgbClr val="65727E"/>
                </a:solidFill>
                <a:latin typeface="DM Sans"/>
                <a:ea typeface="DM Sans"/>
                <a:cs typeface="DM Sans"/>
              </a:defRPr>
            </a:pPr>
            <a:r>
              <a:rPr sz="975" b="0">
                <a:solidFill>
                  <a:srgbClr val="65727E"/>
                </a:solidFill>
                <a:latin typeface="DM Sans"/>
                <a:ea typeface="DM Sans"/>
                <a:cs typeface="DM Sans"/>
              </a:rPr>
              <a:t>7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079FD45-CB18-40DE-83D9-5833B68A2292}"/>
              </a:ext>
            </a:extLst>
          </p:cNvPr>
          <p:cNvSpPr>
            <a:spLocks noGrp="1"/>
          </p:cNvSpPr>
          <p:nvPr/>
        </p:nvSpPr>
        <p:spPr>
          <a:xfrm>
            <a:off x="4286250" y="6191250"/>
            <a:ext cx="73342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900" b="0">
                <a:solidFill>
                  <a:srgbClr val="65727E"/>
                </a:solidFill>
                <a:latin typeface="DM Sans"/>
                <a:ea typeface="DM Sans"/>
                <a:cs typeface="DM Sans"/>
              </a:defRPr>
            </a:pPr>
            <a:r>
              <a:rPr sz="900" b="0">
                <a:solidFill>
                  <a:srgbClr val="65727E"/>
                </a:solidFill>
                <a:latin typeface="DM Sans"/>
                <a:ea typeface="DM Sans"/>
                <a:cs typeface="DM Sans"/>
              </a:rPr>
              <a:t>Source: deidentified working data; table2_vas.csv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4B4C0E-D426-4592-AC97-45394A13D4D3}"/>
              </a:ext>
            </a:extLst>
          </p:cNvPr>
          <p:cNvSpPr>
            <a:spLocks noGrp="1"/>
          </p:cNvSpPr>
          <p:nvPr/>
        </p:nvSpPr>
        <p:spPr>
          <a:xfrm>
            <a:off x="819150" y="1666875"/>
            <a:ext cx="4876800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00" b="0">
                <a:solidFill>
                  <a:srgbClr val="65727E"/>
                </a:solidFill>
                <a:latin typeface="DM Sans"/>
                <a:ea typeface="DM Sans"/>
                <a:cs typeface="DM Sans"/>
              </a:defRPr>
            </a:pPr>
            <a:r>
              <a:rPr sz="1500" b="0">
                <a:solidFill>
                  <a:srgbClr val="65727E"/>
                </a:solidFill>
                <a:latin typeface="DM Sans"/>
                <a:ea typeface="DM Sans"/>
                <a:cs typeface="DM Sans"/>
              </a:rPr>
              <a:t>VAS pain score (0–10); lower is better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202E250E-9688-49E3-ABD2-32D24A723BCF}"/>
              </a:ext>
            </a:extLst>
          </p:cNvPr>
          <p:cNvSpPr>
            <a:spLocks noGrp="1"/>
          </p:cNvSpPr>
          <p:nvPr/>
        </p:nvSpPr>
        <p:spPr>
          <a:xfrm>
            <a:off x="6877050" y="1819275"/>
            <a:ext cx="314325" cy="953"/>
          </a:xfrm>
          <a:prstGeom prst="line">
            <a:avLst/>
          </a:prstGeom>
          <a:noFill/>
          <a:ln w="38100">
            <a:solidFill>
              <a:srgbClr val="477E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B8B61A0-076D-4305-AFFF-77C0AF632D8D}"/>
              </a:ext>
            </a:extLst>
          </p:cNvPr>
          <p:cNvSpPr>
            <a:spLocks noGrp="1"/>
          </p:cNvSpPr>
          <p:nvPr/>
        </p:nvSpPr>
        <p:spPr>
          <a:xfrm>
            <a:off x="7248525" y="1666875"/>
            <a:ext cx="2314575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425" b="0">
                <a:solidFill>
                  <a:srgbClr val="253342"/>
                </a:solidFill>
                <a:latin typeface="DM Sans"/>
                <a:ea typeface="DM Sans"/>
                <a:cs typeface="DM Sans"/>
              </a:defRPr>
            </a:pPr>
            <a:r>
              <a:rPr sz="1425" b="0">
                <a:solidFill>
                  <a:srgbClr val="253342"/>
                </a:solidFill>
                <a:latin typeface="DM Sans"/>
                <a:ea typeface="DM Sans"/>
                <a:cs typeface="DM Sans"/>
              </a:rPr>
              <a:t>Standard medication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820DFE3F-32B9-4CC8-A2E3-42D9FE26FE3E}"/>
              </a:ext>
            </a:extLst>
          </p:cNvPr>
          <p:cNvSpPr>
            <a:spLocks noGrp="1"/>
          </p:cNvSpPr>
          <p:nvPr/>
        </p:nvSpPr>
        <p:spPr>
          <a:xfrm>
            <a:off x="9591675" y="1819275"/>
            <a:ext cx="314325" cy="953"/>
          </a:xfrm>
          <a:prstGeom prst="line">
            <a:avLst/>
          </a:prstGeom>
          <a:noFill/>
          <a:ln w="38100">
            <a:solidFill>
              <a:srgbClr val="277C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F7C622A-29C0-49F4-9D79-5354DF218836}"/>
              </a:ext>
            </a:extLst>
          </p:cNvPr>
          <p:cNvSpPr>
            <a:spLocks noGrp="1"/>
          </p:cNvSpPr>
          <p:nvPr/>
        </p:nvSpPr>
        <p:spPr>
          <a:xfrm>
            <a:off x="9963150" y="1666875"/>
            <a:ext cx="1866900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425" b="0">
                <a:solidFill>
                  <a:srgbClr val="253342"/>
                </a:solidFill>
                <a:latin typeface="DM Sans"/>
                <a:ea typeface="DM Sans"/>
                <a:cs typeface="DM Sans"/>
              </a:defRPr>
            </a:pPr>
            <a:r>
              <a:rPr sz="1425" b="0">
                <a:solidFill>
                  <a:srgbClr val="253342"/>
                </a:solidFill>
                <a:latin typeface="DM Sans"/>
                <a:ea typeface="DM Sans"/>
                <a:cs typeface="DM Sans"/>
              </a:rPr>
              <a:t>WAA + medication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E4AB860-F8CD-4CB5-8DE1-766140B6F974}"/>
              </a:ext>
            </a:extLst>
          </p:cNvPr>
          <p:cNvSpPr>
            <a:spLocks noGrp="1"/>
          </p:cNvSpPr>
          <p:nvPr/>
        </p:nvSpPr>
        <p:spPr>
          <a:xfrm>
            <a:off x="1285875" y="4619625"/>
            <a:ext cx="10039350" cy="10478"/>
          </a:xfrm>
          <a:prstGeom prst="rect">
            <a:avLst/>
          </a:prstGeom>
          <a:solidFill>
            <a:srgbClr val="B6C5C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B854859-43DD-45B1-8C96-D68F781E002A}"/>
              </a:ext>
            </a:extLst>
          </p:cNvPr>
          <p:cNvSpPr>
            <a:spLocks noGrp="1"/>
          </p:cNvSpPr>
          <p:nvPr/>
        </p:nvSpPr>
        <p:spPr>
          <a:xfrm>
            <a:off x="857250" y="4495800"/>
            <a:ext cx="3238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200" b="0">
                <a:solidFill>
                  <a:srgbClr val="65727E"/>
                </a:solidFill>
                <a:latin typeface="DM Sans"/>
                <a:ea typeface="DM Sans"/>
                <a:cs typeface="DM Sans"/>
              </a:defRPr>
            </a:pPr>
            <a:r>
              <a:rPr sz="1200" b="0">
                <a:solidFill>
                  <a:srgbClr val="65727E"/>
                </a:solidFill>
                <a:latin typeface="DM Sans"/>
                <a:ea typeface="DM Sans"/>
                <a:cs typeface="DM Sans"/>
              </a:rPr>
              <a:t>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3EF7A2F-4CA7-4FE1-BA39-8C9FB61AE2A0}"/>
              </a:ext>
            </a:extLst>
          </p:cNvPr>
          <p:cNvSpPr>
            <a:spLocks noGrp="1"/>
          </p:cNvSpPr>
          <p:nvPr/>
        </p:nvSpPr>
        <p:spPr>
          <a:xfrm>
            <a:off x="1285875" y="4252232"/>
            <a:ext cx="10039350" cy="10478"/>
          </a:xfrm>
          <a:prstGeom prst="rect">
            <a:avLst/>
          </a:prstGeom>
          <a:solidFill>
            <a:srgbClr val="EAF1F7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E40C4F0-0046-4827-8013-7AF5ACB2D471}"/>
              </a:ext>
            </a:extLst>
          </p:cNvPr>
          <p:cNvSpPr>
            <a:spLocks noGrp="1"/>
          </p:cNvSpPr>
          <p:nvPr/>
        </p:nvSpPr>
        <p:spPr>
          <a:xfrm>
            <a:off x="857250" y="4128407"/>
            <a:ext cx="3238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200" b="0">
                <a:solidFill>
                  <a:srgbClr val="65727E"/>
                </a:solidFill>
                <a:latin typeface="DM Sans"/>
                <a:ea typeface="DM Sans"/>
                <a:cs typeface="DM Sans"/>
              </a:defRPr>
            </a:pPr>
            <a:r>
              <a:rPr sz="1200" b="0">
                <a:solidFill>
                  <a:srgbClr val="65727E"/>
                </a:solidFill>
                <a:latin typeface="DM Sans"/>
                <a:ea typeface="DM Sans"/>
                <a:cs typeface="DM Sans"/>
              </a:rPr>
              <a:t>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E71361D-775F-4D64-B2DD-43A55F980A9F}"/>
              </a:ext>
            </a:extLst>
          </p:cNvPr>
          <p:cNvSpPr>
            <a:spLocks noGrp="1"/>
          </p:cNvSpPr>
          <p:nvPr/>
        </p:nvSpPr>
        <p:spPr>
          <a:xfrm>
            <a:off x="1285875" y="3884839"/>
            <a:ext cx="10039350" cy="10478"/>
          </a:xfrm>
          <a:prstGeom prst="rect">
            <a:avLst/>
          </a:prstGeom>
          <a:solidFill>
            <a:srgbClr val="EAF1F7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7D992C9-115E-4D7F-B85C-16DC66F8701A}"/>
              </a:ext>
            </a:extLst>
          </p:cNvPr>
          <p:cNvSpPr>
            <a:spLocks noGrp="1"/>
          </p:cNvSpPr>
          <p:nvPr/>
        </p:nvSpPr>
        <p:spPr>
          <a:xfrm>
            <a:off x="857250" y="3761014"/>
            <a:ext cx="3238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200" b="0">
                <a:solidFill>
                  <a:srgbClr val="65727E"/>
                </a:solidFill>
                <a:latin typeface="DM Sans"/>
                <a:ea typeface="DM Sans"/>
                <a:cs typeface="DM Sans"/>
              </a:defRPr>
            </a:pPr>
            <a:r>
              <a:rPr sz="1200" b="0">
                <a:solidFill>
                  <a:srgbClr val="65727E"/>
                </a:solidFill>
                <a:latin typeface="DM Sans"/>
                <a:ea typeface="DM Sans"/>
                <a:cs typeface="DM Sans"/>
              </a:rPr>
              <a:t>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6A4FC8D-BF88-468B-BFCE-77F4EA63BEF2}"/>
              </a:ext>
            </a:extLst>
          </p:cNvPr>
          <p:cNvSpPr>
            <a:spLocks noGrp="1"/>
          </p:cNvSpPr>
          <p:nvPr/>
        </p:nvSpPr>
        <p:spPr>
          <a:xfrm>
            <a:off x="1285875" y="3517446"/>
            <a:ext cx="10039350" cy="10478"/>
          </a:xfrm>
          <a:prstGeom prst="rect">
            <a:avLst/>
          </a:prstGeom>
          <a:solidFill>
            <a:srgbClr val="EAF1F7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EFF1F2C-7433-48FD-801F-662F3DB83142}"/>
              </a:ext>
            </a:extLst>
          </p:cNvPr>
          <p:cNvSpPr>
            <a:spLocks noGrp="1"/>
          </p:cNvSpPr>
          <p:nvPr/>
        </p:nvSpPr>
        <p:spPr>
          <a:xfrm>
            <a:off x="857250" y="3393621"/>
            <a:ext cx="3238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200" b="0">
                <a:solidFill>
                  <a:srgbClr val="65727E"/>
                </a:solidFill>
                <a:latin typeface="DM Sans"/>
                <a:ea typeface="DM Sans"/>
                <a:cs typeface="DM Sans"/>
              </a:defRPr>
            </a:pPr>
            <a:r>
              <a:rPr sz="1200" b="0">
                <a:solidFill>
                  <a:srgbClr val="65727E"/>
                </a:solidFill>
                <a:latin typeface="DM Sans"/>
                <a:ea typeface="DM Sans"/>
                <a:cs typeface="DM Sans"/>
              </a:rPr>
              <a:t>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FAC602D-D5B0-4063-8E36-6D157973284F}"/>
              </a:ext>
            </a:extLst>
          </p:cNvPr>
          <p:cNvSpPr>
            <a:spLocks noGrp="1"/>
          </p:cNvSpPr>
          <p:nvPr/>
        </p:nvSpPr>
        <p:spPr>
          <a:xfrm>
            <a:off x="1285875" y="3150054"/>
            <a:ext cx="10039350" cy="10478"/>
          </a:xfrm>
          <a:prstGeom prst="rect">
            <a:avLst/>
          </a:prstGeom>
          <a:solidFill>
            <a:srgbClr val="EAF1F7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1430283-B64F-4953-8BAC-07EA7572FFF3}"/>
              </a:ext>
            </a:extLst>
          </p:cNvPr>
          <p:cNvSpPr>
            <a:spLocks noGrp="1"/>
          </p:cNvSpPr>
          <p:nvPr/>
        </p:nvSpPr>
        <p:spPr>
          <a:xfrm>
            <a:off x="857250" y="3026229"/>
            <a:ext cx="3238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200" b="0">
                <a:solidFill>
                  <a:srgbClr val="65727E"/>
                </a:solidFill>
                <a:latin typeface="DM Sans"/>
                <a:ea typeface="DM Sans"/>
                <a:cs typeface="DM Sans"/>
              </a:defRPr>
            </a:pPr>
            <a:r>
              <a:rPr sz="1200" b="0">
                <a:solidFill>
                  <a:srgbClr val="65727E"/>
                </a:solidFill>
                <a:latin typeface="DM Sans"/>
                <a:ea typeface="DM Sans"/>
                <a:cs typeface="DM Sans"/>
              </a:rPr>
              <a:t>4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BC36F10-B76C-462A-A22C-0E32EBEBE42A}"/>
              </a:ext>
            </a:extLst>
          </p:cNvPr>
          <p:cNvSpPr>
            <a:spLocks noGrp="1"/>
          </p:cNvSpPr>
          <p:nvPr/>
        </p:nvSpPr>
        <p:spPr>
          <a:xfrm>
            <a:off x="1285875" y="2782661"/>
            <a:ext cx="10039350" cy="10478"/>
          </a:xfrm>
          <a:prstGeom prst="rect">
            <a:avLst/>
          </a:prstGeom>
          <a:solidFill>
            <a:srgbClr val="EAF1F7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191C91D-F576-48D1-BA01-CE7C71C121CD}"/>
              </a:ext>
            </a:extLst>
          </p:cNvPr>
          <p:cNvSpPr>
            <a:spLocks noGrp="1"/>
          </p:cNvSpPr>
          <p:nvPr/>
        </p:nvSpPr>
        <p:spPr>
          <a:xfrm>
            <a:off x="857250" y="2658836"/>
            <a:ext cx="3238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200" b="0">
                <a:solidFill>
                  <a:srgbClr val="65727E"/>
                </a:solidFill>
                <a:latin typeface="DM Sans"/>
                <a:ea typeface="DM Sans"/>
                <a:cs typeface="DM Sans"/>
              </a:defRPr>
            </a:pPr>
            <a:r>
              <a:rPr sz="1200" b="0">
                <a:solidFill>
                  <a:srgbClr val="65727E"/>
                </a:solidFill>
                <a:latin typeface="DM Sans"/>
                <a:ea typeface="DM Sans"/>
                <a:cs typeface="DM Sans"/>
              </a:rPr>
              <a:t>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72F3EE-D083-46CC-A9A7-3A9B41E460B9}"/>
              </a:ext>
            </a:extLst>
          </p:cNvPr>
          <p:cNvSpPr>
            <a:spLocks noGrp="1"/>
          </p:cNvSpPr>
          <p:nvPr/>
        </p:nvSpPr>
        <p:spPr>
          <a:xfrm>
            <a:off x="1285875" y="2415268"/>
            <a:ext cx="10039350" cy="10478"/>
          </a:xfrm>
          <a:prstGeom prst="rect">
            <a:avLst/>
          </a:prstGeom>
          <a:solidFill>
            <a:srgbClr val="EAF1F7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E894296-0E79-4BD1-937B-42D8DBD1041E}"/>
              </a:ext>
            </a:extLst>
          </p:cNvPr>
          <p:cNvSpPr>
            <a:spLocks noGrp="1"/>
          </p:cNvSpPr>
          <p:nvPr/>
        </p:nvSpPr>
        <p:spPr>
          <a:xfrm>
            <a:off x="857250" y="2291443"/>
            <a:ext cx="3238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200" b="0">
                <a:solidFill>
                  <a:srgbClr val="65727E"/>
                </a:solidFill>
                <a:latin typeface="DM Sans"/>
                <a:ea typeface="DM Sans"/>
                <a:cs typeface="DM Sans"/>
              </a:defRPr>
            </a:pPr>
            <a:r>
              <a:rPr sz="1200" b="0">
                <a:solidFill>
                  <a:srgbClr val="65727E"/>
                </a:solidFill>
                <a:latin typeface="DM Sans"/>
                <a:ea typeface="DM Sans"/>
                <a:cs typeface="DM Sans"/>
              </a:rPr>
              <a:t>6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F731892-3B42-4C3E-ADFB-22DFD8F42438}"/>
              </a:ext>
            </a:extLst>
          </p:cNvPr>
          <p:cNvSpPr>
            <a:spLocks noGrp="1"/>
          </p:cNvSpPr>
          <p:nvPr/>
        </p:nvSpPr>
        <p:spPr>
          <a:xfrm>
            <a:off x="1285875" y="2047875"/>
            <a:ext cx="10039350" cy="10478"/>
          </a:xfrm>
          <a:prstGeom prst="rect">
            <a:avLst/>
          </a:prstGeom>
          <a:solidFill>
            <a:srgbClr val="EAF1F7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29F0B00-DFEE-4D3A-A9F7-55EDD27F9E34}"/>
              </a:ext>
            </a:extLst>
          </p:cNvPr>
          <p:cNvSpPr>
            <a:spLocks noGrp="1"/>
          </p:cNvSpPr>
          <p:nvPr/>
        </p:nvSpPr>
        <p:spPr>
          <a:xfrm>
            <a:off x="857250" y="1924050"/>
            <a:ext cx="3238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200" b="0">
                <a:solidFill>
                  <a:srgbClr val="65727E"/>
                </a:solidFill>
                <a:latin typeface="DM Sans"/>
                <a:ea typeface="DM Sans"/>
                <a:cs typeface="DM Sans"/>
              </a:defRPr>
            </a:pPr>
            <a:r>
              <a:rPr sz="1200" b="0">
                <a:solidFill>
                  <a:srgbClr val="65727E"/>
                </a:solidFill>
                <a:latin typeface="DM Sans"/>
                <a:ea typeface="DM Sans"/>
                <a:cs typeface="DM Sans"/>
              </a:rPr>
              <a:t>7</a:t>
            </a:r>
          </a:p>
        </p:txBody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8346291B-32CA-4EDC-A03A-AD3BA128D5D2}"/>
              </a:ext>
            </a:extLst>
          </p:cNvPr>
          <p:cNvSpPr>
            <a:spLocks noGrp="1"/>
          </p:cNvSpPr>
          <p:nvPr/>
        </p:nvSpPr>
        <p:spPr>
          <a:xfrm>
            <a:off x="1590675" y="2655486"/>
            <a:ext cx="1200150" cy="190762"/>
          </a:xfrm>
          <a:prstGeom prst="line">
            <a:avLst/>
          </a:prstGeom>
          <a:noFill/>
          <a:ln w="34290">
            <a:solidFill>
              <a:srgbClr val="477E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traight Connector 27">
            <a:extLst>
              <a:ext uri="{FF2B5EF4-FFF2-40B4-BE49-F238E27FC236}">
                <a16:creationId xmlns:a16="http://schemas.microsoft.com/office/drawing/2014/main" id="{296036DF-B710-48BF-9ACF-61F4FA152E94}"/>
              </a:ext>
            </a:extLst>
          </p:cNvPr>
          <p:cNvSpPr>
            <a:spLocks noGrp="1"/>
          </p:cNvSpPr>
          <p:nvPr/>
        </p:nvSpPr>
        <p:spPr>
          <a:xfrm>
            <a:off x="2790825" y="2846248"/>
            <a:ext cx="1200150" cy="240218"/>
          </a:xfrm>
          <a:prstGeom prst="line">
            <a:avLst/>
          </a:prstGeom>
          <a:noFill/>
          <a:ln w="34290">
            <a:solidFill>
              <a:srgbClr val="477E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traight Connector 28">
            <a:extLst>
              <a:ext uri="{FF2B5EF4-FFF2-40B4-BE49-F238E27FC236}">
                <a16:creationId xmlns:a16="http://schemas.microsoft.com/office/drawing/2014/main" id="{D3B0E17E-ED65-4F4E-AFCB-17E7727DA065}"/>
              </a:ext>
            </a:extLst>
          </p:cNvPr>
          <p:cNvSpPr>
            <a:spLocks noGrp="1"/>
          </p:cNvSpPr>
          <p:nvPr/>
        </p:nvSpPr>
        <p:spPr>
          <a:xfrm>
            <a:off x="3990975" y="3086466"/>
            <a:ext cx="1200150" cy="275545"/>
          </a:xfrm>
          <a:prstGeom prst="line">
            <a:avLst/>
          </a:prstGeom>
          <a:noFill/>
          <a:ln w="34290">
            <a:solidFill>
              <a:srgbClr val="477E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traight Connector 29">
            <a:extLst>
              <a:ext uri="{FF2B5EF4-FFF2-40B4-BE49-F238E27FC236}">
                <a16:creationId xmlns:a16="http://schemas.microsoft.com/office/drawing/2014/main" id="{5ADF008C-2B3B-44A9-9F32-254CD2D9F3D1}"/>
              </a:ext>
            </a:extLst>
          </p:cNvPr>
          <p:cNvSpPr>
            <a:spLocks noGrp="1"/>
          </p:cNvSpPr>
          <p:nvPr/>
        </p:nvSpPr>
        <p:spPr>
          <a:xfrm>
            <a:off x="5191125" y="3362011"/>
            <a:ext cx="1200150" cy="332067"/>
          </a:xfrm>
          <a:prstGeom prst="line">
            <a:avLst/>
          </a:prstGeom>
          <a:noFill/>
          <a:ln w="34290">
            <a:solidFill>
              <a:srgbClr val="477E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traight Connector 30">
            <a:extLst>
              <a:ext uri="{FF2B5EF4-FFF2-40B4-BE49-F238E27FC236}">
                <a16:creationId xmlns:a16="http://schemas.microsoft.com/office/drawing/2014/main" id="{F5D603AD-6655-4BFF-80B5-02777CAAB0F2}"/>
              </a:ext>
            </a:extLst>
          </p:cNvPr>
          <p:cNvSpPr>
            <a:spLocks noGrp="1"/>
          </p:cNvSpPr>
          <p:nvPr/>
        </p:nvSpPr>
        <p:spPr>
          <a:xfrm>
            <a:off x="6391275" y="3694078"/>
            <a:ext cx="1200150" cy="374458"/>
          </a:xfrm>
          <a:prstGeom prst="line">
            <a:avLst/>
          </a:prstGeom>
          <a:noFill/>
          <a:ln w="34290">
            <a:solidFill>
              <a:srgbClr val="477E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traight Connector 31">
            <a:extLst>
              <a:ext uri="{FF2B5EF4-FFF2-40B4-BE49-F238E27FC236}">
                <a16:creationId xmlns:a16="http://schemas.microsoft.com/office/drawing/2014/main" id="{B3C76376-EA88-408F-91DC-11F591FA1D19}"/>
              </a:ext>
            </a:extLst>
          </p:cNvPr>
          <p:cNvSpPr>
            <a:spLocks noGrp="1"/>
          </p:cNvSpPr>
          <p:nvPr/>
        </p:nvSpPr>
        <p:spPr>
          <a:xfrm>
            <a:off x="7591425" y="4068536"/>
            <a:ext cx="1200150" cy="381524"/>
          </a:xfrm>
          <a:prstGeom prst="line">
            <a:avLst/>
          </a:prstGeom>
          <a:noFill/>
          <a:ln w="34290">
            <a:solidFill>
              <a:srgbClr val="477E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D6EDE34-870F-4F97-AD5A-A671EDD96DA1}"/>
              </a:ext>
            </a:extLst>
          </p:cNvPr>
          <p:cNvSpPr>
            <a:spLocks noGrp="1"/>
          </p:cNvSpPr>
          <p:nvPr/>
        </p:nvSpPr>
        <p:spPr>
          <a:xfrm>
            <a:off x="1579721" y="2271299"/>
            <a:ext cx="21908" cy="768374"/>
          </a:xfrm>
          <a:prstGeom prst="rect">
            <a:avLst/>
          </a:prstGeom>
          <a:solidFill>
            <a:srgbClr val="477EA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ED4BD0F-16BD-4D28-9F60-F960E4EAEE1B}"/>
              </a:ext>
            </a:extLst>
          </p:cNvPr>
          <p:cNvSpPr>
            <a:spLocks noGrp="1"/>
          </p:cNvSpPr>
          <p:nvPr/>
        </p:nvSpPr>
        <p:spPr>
          <a:xfrm>
            <a:off x="1524000" y="2260822"/>
            <a:ext cx="133350" cy="20955"/>
          </a:xfrm>
          <a:prstGeom prst="rect">
            <a:avLst/>
          </a:prstGeom>
          <a:solidFill>
            <a:srgbClr val="477EA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ADB9541-F31F-4EAC-BB06-C3EF5D99A221}"/>
              </a:ext>
            </a:extLst>
          </p:cNvPr>
          <p:cNvSpPr>
            <a:spLocks noGrp="1"/>
          </p:cNvSpPr>
          <p:nvPr/>
        </p:nvSpPr>
        <p:spPr>
          <a:xfrm>
            <a:off x="1524000" y="3029196"/>
            <a:ext cx="133350" cy="20955"/>
          </a:xfrm>
          <a:prstGeom prst="rect">
            <a:avLst/>
          </a:prstGeom>
          <a:solidFill>
            <a:srgbClr val="477EA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46894A61-F968-4564-97A8-CFEC51909A0D}"/>
              </a:ext>
            </a:extLst>
          </p:cNvPr>
          <p:cNvSpPr>
            <a:spLocks noGrp="1"/>
          </p:cNvSpPr>
          <p:nvPr/>
        </p:nvSpPr>
        <p:spPr>
          <a:xfrm>
            <a:off x="1538288" y="2603099"/>
            <a:ext cx="104775" cy="104775"/>
          </a:xfrm>
          <a:prstGeom prst="ellipse">
            <a:avLst/>
          </a:prstGeom>
          <a:solidFill>
            <a:srgbClr val="477EA8"/>
          </a:solidFill>
          <a:ln w="14288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E6CF1A6-07C2-4C13-AE85-83C3AB097C12}"/>
              </a:ext>
            </a:extLst>
          </p:cNvPr>
          <p:cNvSpPr>
            <a:spLocks noGrp="1"/>
          </p:cNvSpPr>
          <p:nvPr/>
        </p:nvSpPr>
        <p:spPr>
          <a:xfrm>
            <a:off x="2779871" y="2463188"/>
            <a:ext cx="21908" cy="766119"/>
          </a:xfrm>
          <a:prstGeom prst="rect">
            <a:avLst/>
          </a:prstGeom>
          <a:solidFill>
            <a:srgbClr val="477EA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EC0AC23-0BDE-49CE-AF7B-57021E38F218}"/>
              </a:ext>
            </a:extLst>
          </p:cNvPr>
          <p:cNvSpPr>
            <a:spLocks noGrp="1"/>
          </p:cNvSpPr>
          <p:nvPr/>
        </p:nvSpPr>
        <p:spPr>
          <a:xfrm>
            <a:off x="2724150" y="2452711"/>
            <a:ext cx="133350" cy="20955"/>
          </a:xfrm>
          <a:prstGeom prst="rect">
            <a:avLst/>
          </a:prstGeom>
          <a:solidFill>
            <a:srgbClr val="477EA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4149D54-4B87-4F57-9479-181D93EB1977}"/>
              </a:ext>
            </a:extLst>
          </p:cNvPr>
          <p:cNvSpPr>
            <a:spLocks noGrp="1"/>
          </p:cNvSpPr>
          <p:nvPr/>
        </p:nvSpPr>
        <p:spPr>
          <a:xfrm>
            <a:off x="2724150" y="3218830"/>
            <a:ext cx="133350" cy="20955"/>
          </a:xfrm>
          <a:prstGeom prst="rect">
            <a:avLst/>
          </a:prstGeom>
          <a:solidFill>
            <a:srgbClr val="477EA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AE9529E4-27E4-4742-8120-DD56C8395A87}"/>
              </a:ext>
            </a:extLst>
          </p:cNvPr>
          <p:cNvSpPr>
            <a:spLocks noGrp="1"/>
          </p:cNvSpPr>
          <p:nvPr/>
        </p:nvSpPr>
        <p:spPr>
          <a:xfrm>
            <a:off x="2738438" y="2793860"/>
            <a:ext cx="104775" cy="104775"/>
          </a:xfrm>
          <a:prstGeom prst="ellipse">
            <a:avLst/>
          </a:prstGeom>
          <a:solidFill>
            <a:srgbClr val="477EA8"/>
          </a:solidFill>
          <a:ln w="14288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68CE184-1A79-4CA8-93B0-1E3586A1A701}"/>
              </a:ext>
            </a:extLst>
          </p:cNvPr>
          <p:cNvSpPr>
            <a:spLocks noGrp="1"/>
          </p:cNvSpPr>
          <p:nvPr/>
        </p:nvSpPr>
        <p:spPr>
          <a:xfrm>
            <a:off x="3980021" y="2747386"/>
            <a:ext cx="21908" cy="678160"/>
          </a:xfrm>
          <a:prstGeom prst="rect">
            <a:avLst/>
          </a:prstGeom>
          <a:solidFill>
            <a:srgbClr val="477EA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9088D7F-0138-45E9-9585-CCAD7F7387F7}"/>
              </a:ext>
            </a:extLst>
          </p:cNvPr>
          <p:cNvSpPr>
            <a:spLocks noGrp="1"/>
          </p:cNvSpPr>
          <p:nvPr/>
        </p:nvSpPr>
        <p:spPr>
          <a:xfrm>
            <a:off x="3924300" y="2736909"/>
            <a:ext cx="133350" cy="20955"/>
          </a:xfrm>
          <a:prstGeom prst="rect">
            <a:avLst/>
          </a:prstGeom>
          <a:solidFill>
            <a:srgbClr val="477EA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A13DA58-D0CC-4E99-9867-7A57C96AFB82}"/>
              </a:ext>
            </a:extLst>
          </p:cNvPr>
          <p:cNvSpPr>
            <a:spLocks noGrp="1"/>
          </p:cNvSpPr>
          <p:nvPr/>
        </p:nvSpPr>
        <p:spPr>
          <a:xfrm>
            <a:off x="3924300" y="3415069"/>
            <a:ext cx="133350" cy="20955"/>
          </a:xfrm>
          <a:prstGeom prst="rect">
            <a:avLst/>
          </a:prstGeom>
          <a:solidFill>
            <a:srgbClr val="477EA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C06375BB-9BA3-4FE3-A9B8-AE53A9FB3CD5}"/>
              </a:ext>
            </a:extLst>
          </p:cNvPr>
          <p:cNvSpPr>
            <a:spLocks noGrp="1"/>
          </p:cNvSpPr>
          <p:nvPr/>
        </p:nvSpPr>
        <p:spPr>
          <a:xfrm>
            <a:off x="3938588" y="3034079"/>
            <a:ext cx="104775" cy="104775"/>
          </a:xfrm>
          <a:prstGeom prst="ellipse">
            <a:avLst/>
          </a:prstGeom>
          <a:solidFill>
            <a:srgbClr val="477EA8"/>
          </a:solidFill>
          <a:ln w="14288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B7AF4A7-7399-47F9-8523-187BF77CB9DF}"/>
              </a:ext>
            </a:extLst>
          </p:cNvPr>
          <p:cNvSpPr>
            <a:spLocks noGrp="1"/>
          </p:cNvSpPr>
          <p:nvPr/>
        </p:nvSpPr>
        <p:spPr>
          <a:xfrm>
            <a:off x="5180171" y="2995728"/>
            <a:ext cx="21908" cy="732566"/>
          </a:xfrm>
          <a:prstGeom prst="rect">
            <a:avLst/>
          </a:prstGeom>
          <a:solidFill>
            <a:srgbClr val="477EA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AE7E3CC-F89A-4DE6-A88C-6F5E11796CCB}"/>
              </a:ext>
            </a:extLst>
          </p:cNvPr>
          <p:cNvSpPr>
            <a:spLocks noGrp="1"/>
          </p:cNvSpPr>
          <p:nvPr/>
        </p:nvSpPr>
        <p:spPr>
          <a:xfrm>
            <a:off x="5124450" y="2985250"/>
            <a:ext cx="133350" cy="20955"/>
          </a:xfrm>
          <a:prstGeom prst="rect">
            <a:avLst/>
          </a:prstGeom>
          <a:solidFill>
            <a:srgbClr val="477EA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05006DF-24E2-4FC4-8BCD-E8DCCE2AA0DB}"/>
              </a:ext>
            </a:extLst>
          </p:cNvPr>
          <p:cNvSpPr>
            <a:spLocks noGrp="1"/>
          </p:cNvSpPr>
          <p:nvPr/>
        </p:nvSpPr>
        <p:spPr>
          <a:xfrm>
            <a:off x="5124450" y="3717816"/>
            <a:ext cx="133350" cy="20955"/>
          </a:xfrm>
          <a:prstGeom prst="rect">
            <a:avLst/>
          </a:prstGeom>
          <a:solidFill>
            <a:srgbClr val="477EA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ED095640-B618-4D9C-AA80-F1A52D0E10CD}"/>
              </a:ext>
            </a:extLst>
          </p:cNvPr>
          <p:cNvSpPr>
            <a:spLocks noGrp="1"/>
          </p:cNvSpPr>
          <p:nvPr/>
        </p:nvSpPr>
        <p:spPr>
          <a:xfrm>
            <a:off x="5138738" y="3309623"/>
            <a:ext cx="104775" cy="104775"/>
          </a:xfrm>
          <a:prstGeom prst="ellipse">
            <a:avLst/>
          </a:prstGeom>
          <a:solidFill>
            <a:srgbClr val="477EA8"/>
          </a:solidFill>
          <a:ln w="14288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1ADCB3F-B9E8-4ACB-B04D-E80585403E1D}"/>
              </a:ext>
            </a:extLst>
          </p:cNvPr>
          <p:cNvSpPr>
            <a:spLocks noGrp="1"/>
          </p:cNvSpPr>
          <p:nvPr/>
        </p:nvSpPr>
        <p:spPr>
          <a:xfrm>
            <a:off x="6380321" y="3341459"/>
            <a:ext cx="21908" cy="705238"/>
          </a:xfrm>
          <a:prstGeom prst="rect">
            <a:avLst/>
          </a:prstGeom>
          <a:solidFill>
            <a:srgbClr val="477EA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730A95D-E2C9-4205-8263-56989458FD8F}"/>
              </a:ext>
            </a:extLst>
          </p:cNvPr>
          <p:cNvSpPr>
            <a:spLocks noGrp="1"/>
          </p:cNvSpPr>
          <p:nvPr/>
        </p:nvSpPr>
        <p:spPr>
          <a:xfrm>
            <a:off x="6324600" y="3330981"/>
            <a:ext cx="133350" cy="20955"/>
          </a:xfrm>
          <a:prstGeom prst="rect">
            <a:avLst/>
          </a:prstGeom>
          <a:solidFill>
            <a:srgbClr val="477EA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3552E6F4-55AB-4AE3-993D-D476AD7917E5}"/>
              </a:ext>
            </a:extLst>
          </p:cNvPr>
          <p:cNvSpPr>
            <a:spLocks noGrp="1"/>
          </p:cNvSpPr>
          <p:nvPr/>
        </p:nvSpPr>
        <p:spPr>
          <a:xfrm>
            <a:off x="6324600" y="4036219"/>
            <a:ext cx="133350" cy="20955"/>
          </a:xfrm>
          <a:prstGeom prst="rect">
            <a:avLst/>
          </a:prstGeom>
          <a:solidFill>
            <a:srgbClr val="477EA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ED4DE153-98D8-4E47-AEED-BF99CF0FF478}"/>
              </a:ext>
            </a:extLst>
          </p:cNvPr>
          <p:cNvSpPr>
            <a:spLocks noGrp="1"/>
          </p:cNvSpPr>
          <p:nvPr/>
        </p:nvSpPr>
        <p:spPr>
          <a:xfrm>
            <a:off x="6338888" y="3641690"/>
            <a:ext cx="104775" cy="104775"/>
          </a:xfrm>
          <a:prstGeom prst="ellipse">
            <a:avLst/>
          </a:prstGeom>
          <a:solidFill>
            <a:srgbClr val="477EA8"/>
          </a:solidFill>
          <a:ln w="14288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C454579E-7D76-46E6-91A3-D6480C9AC46C}"/>
              </a:ext>
            </a:extLst>
          </p:cNvPr>
          <p:cNvSpPr>
            <a:spLocks noGrp="1"/>
          </p:cNvSpPr>
          <p:nvPr/>
        </p:nvSpPr>
        <p:spPr>
          <a:xfrm>
            <a:off x="7580471" y="3653770"/>
            <a:ext cx="21908" cy="829530"/>
          </a:xfrm>
          <a:prstGeom prst="rect">
            <a:avLst/>
          </a:prstGeom>
          <a:solidFill>
            <a:srgbClr val="477EA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57EC7191-0E94-45C5-A158-BA7300A8A8F1}"/>
              </a:ext>
            </a:extLst>
          </p:cNvPr>
          <p:cNvSpPr>
            <a:spLocks noGrp="1"/>
          </p:cNvSpPr>
          <p:nvPr/>
        </p:nvSpPr>
        <p:spPr>
          <a:xfrm>
            <a:off x="7524750" y="3643293"/>
            <a:ext cx="133350" cy="20955"/>
          </a:xfrm>
          <a:prstGeom prst="rect">
            <a:avLst/>
          </a:prstGeom>
          <a:solidFill>
            <a:srgbClr val="477EA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56EF86DE-5C92-495C-B3A2-4E654143859F}"/>
              </a:ext>
            </a:extLst>
          </p:cNvPr>
          <p:cNvSpPr>
            <a:spLocks noGrp="1"/>
          </p:cNvSpPr>
          <p:nvPr/>
        </p:nvSpPr>
        <p:spPr>
          <a:xfrm>
            <a:off x="7524750" y="4472823"/>
            <a:ext cx="133350" cy="20955"/>
          </a:xfrm>
          <a:prstGeom prst="rect">
            <a:avLst/>
          </a:prstGeom>
          <a:solidFill>
            <a:srgbClr val="477EA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EAFAF336-E397-466B-865D-5EC4F51B7D2F}"/>
              </a:ext>
            </a:extLst>
          </p:cNvPr>
          <p:cNvSpPr>
            <a:spLocks noGrp="1"/>
          </p:cNvSpPr>
          <p:nvPr/>
        </p:nvSpPr>
        <p:spPr>
          <a:xfrm>
            <a:off x="7539038" y="4016148"/>
            <a:ext cx="104775" cy="104775"/>
          </a:xfrm>
          <a:prstGeom prst="ellipse">
            <a:avLst/>
          </a:prstGeom>
          <a:solidFill>
            <a:srgbClr val="477EA8"/>
          </a:solidFill>
          <a:ln w="14288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D20DD797-202E-4397-8706-E418B19B1FB8}"/>
              </a:ext>
            </a:extLst>
          </p:cNvPr>
          <p:cNvSpPr>
            <a:spLocks noGrp="1"/>
          </p:cNvSpPr>
          <p:nvPr/>
        </p:nvSpPr>
        <p:spPr>
          <a:xfrm>
            <a:off x="8780621" y="4193229"/>
            <a:ext cx="21908" cy="426396"/>
          </a:xfrm>
          <a:prstGeom prst="rect">
            <a:avLst/>
          </a:prstGeom>
          <a:solidFill>
            <a:srgbClr val="477EA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724ED506-1C08-466F-84C8-E0B9F664D8E5}"/>
              </a:ext>
            </a:extLst>
          </p:cNvPr>
          <p:cNvSpPr>
            <a:spLocks noGrp="1"/>
          </p:cNvSpPr>
          <p:nvPr/>
        </p:nvSpPr>
        <p:spPr>
          <a:xfrm>
            <a:off x="8724900" y="4182751"/>
            <a:ext cx="133350" cy="20955"/>
          </a:xfrm>
          <a:prstGeom prst="rect">
            <a:avLst/>
          </a:prstGeom>
          <a:solidFill>
            <a:srgbClr val="477EA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D902E6FD-FDE6-4756-9D63-CAED46CD25BF}"/>
              </a:ext>
            </a:extLst>
          </p:cNvPr>
          <p:cNvSpPr>
            <a:spLocks noGrp="1"/>
          </p:cNvSpPr>
          <p:nvPr/>
        </p:nvSpPr>
        <p:spPr>
          <a:xfrm>
            <a:off x="8724900" y="4609148"/>
            <a:ext cx="133350" cy="20955"/>
          </a:xfrm>
          <a:prstGeom prst="rect">
            <a:avLst/>
          </a:prstGeom>
          <a:solidFill>
            <a:srgbClr val="477EA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D90A3ED8-87F6-4D70-97AC-2751F5B200EA}"/>
              </a:ext>
            </a:extLst>
          </p:cNvPr>
          <p:cNvSpPr>
            <a:spLocks noGrp="1"/>
          </p:cNvSpPr>
          <p:nvPr/>
        </p:nvSpPr>
        <p:spPr>
          <a:xfrm>
            <a:off x="8739188" y="4397672"/>
            <a:ext cx="104775" cy="104775"/>
          </a:xfrm>
          <a:prstGeom prst="ellipse">
            <a:avLst/>
          </a:prstGeom>
          <a:solidFill>
            <a:srgbClr val="477EA8"/>
          </a:solidFill>
          <a:ln w="14288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3FE246B3-C2FD-43B2-886D-AF002D66DA60}"/>
              </a:ext>
            </a:extLst>
          </p:cNvPr>
          <p:cNvSpPr>
            <a:spLocks noGrp="1"/>
          </p:cNvSpPr>
          <p:nvPr/>
        </p:nvSpPr>
        <p:spPr>
          <a:xfrm>
            <a:off x="10685621" y="4311034"/>
            <a:ext cx="21908" cy="308591"/>
          </a:xfrm>
          <a:prstGeom prst="rect">
            <a:avLst/>
          </a:prstGeom>
          <a:solidFill>
            <a:srgbClr val="477EA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57816F11-B373-4B4C-AA74-BEABD344D76D}"/>
              </a:ext>
            </a:extLst>
          </p:cNvPr>
          <p:cNvSpPr>
            <a:spLocks noGrp="1"/>
          </p:cNvSpPr>
          <p:nvPr/>
        </p:nvSpPr>
        <p:spPr>
          <a:xfrm>
            <a:off x="10629900" y="4300557"/>
            <a:ext cx="133350" cy="20955"/>
          </a:xfrm>
          <a:prstGeom prst="rect">
            <a:avLst/>
          </a:prstGeom>
          <a:solidFill>
            <a:srgbClr val="477EA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3179D938-6ADC-4FE3-BC68-79EC1E0B429A}"/>
              </a:ext>
            </a:extLst>
          </p:cNvPr>
          <p:cNvSpPr>
            <a:spLocks noGrp="1"/>
          </p:cNvSpPr>
          <p:nvPr/>
        </p:nvSpPr>
        <p:spPr>
          <a:xfrm>
            <a:off x="10629900" y="4609148"/>
            <a:ext cx="133350" cy="20955"/>
          </a:xfrm>
          <a:prstGeom prst="rect">
            <a:avLst/>
          </a:prstGeom>
          <a:solidFill>
            <a:srgbClr val="477EA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72FFA83B-19CD-45F0-A42C-1A3CB875C4CA}"/>
              </a:ext>
            </a:extLst>
          </p:cNvPr>
          <p:cNvSpPr>
            <a:spLocks noGrp="1"/>
          </p:cNvSpPr>
          <p:nvPr/>
        </p:nvSpPr>
        <p:spPr>
          <a:xfrm>
            <a:off x="10644188" y="4475389"/>
            <a:ext cx="104775" cy="104775"/>
          </a:xfrm>
          <a:prstGeom prst="ellipse">
            <a:avLst/>
          </a:prstGeom>
          <a:solidFill>
            <a:srgbClr val="477EA8"/>
          </a:solidFill>
          <a:ln w="14288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traight Connector 64">
            <a:extLst>
              <a:ext uri="{FF2B5EF4-FFF2-40B4-BE49-F238E27FC236}">
                <a16:creationId xmlns:a16="http://schemas.microsoft.com/office/drawing/2014/main" id="{1C52D672-EF34-45E8-8F26-D6BCACBCD44E}"/>
              </a:ext>
            </a:extLst>
          </p:cNvPr>
          <p:cNvSpPr>
            <a:spLocks noGrp="1"/>
          </p:cNvSpPr>
          <p:nvPr/>
        </p:nvSpPr>
        <p:spPr>
          <a:xfrm>
            <a:off x="1666875" y="2598964"/>
            <a:ext cx="1200150" cy="537482"/>
          </a:xfrm>
          <a:prstGeom prst="line">
            <a:avLst/>
          </a:prstGeom>
          <a:noFill/>
          <a:ln w="34290">
            <a:solidFill>
              <a:srgbClr val="277C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traight Connector 65">
            <a:extLst>
              <a:ext uri="{FF2B5EF4-FFF2-40B4-BE49-F238E27FC236}">
                <a16:creationId xmlns:a16="http://schemas.microsoft.com/office/drawing/2014/main" id="{BE663E02-0D64-4354-94A8-1ED7F22A680F}"/>
              </a:ext>
            </a:extLst>
          </p:cNvPr>
          <p:cNvSpPr>
            <a:spLocks noGrp="1"/>
          </p:cNvSpPr>
          <p:nvPr/>
        </p:nvSpPr>
        <p:spPr>
          <a:xfrm>
            <a:off x="2867025" y="3136446"/>
            <a:ext cx="1200150" cy="238125"/>
          </a:xfrm>
          <a:prstGeom prst="line">
            <a:avLst/>
          </a:prstGeom>
          <a:noFill/>
          <a:ln w="34290">
            <a:solidFill>
              <a:srgbClr val="277C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traight Connector 66">
            <a:extLst>
              <a:ext uri="{FF2B5EF4-FFF2-40B4-BE49-F238E27FC236}">
                <a16:creationId xmlns:a16="http://schemas.microsoft.com/office/drawing/2014/main" id="{D49771D5-C87E-4D52-A5EC-46B65FA5E770}"/>
              </a:ext>
            </a:extLst>
          </p:cNvPr>
          <p:cNvSpPr>
            <a:spLocks noGrp="1"/>
          </p:cNvSpPr>
          <p:nvPr/>
        </p:nvSpPr>
        <p:spPr>
          <a:xfrm>
            <a:off x="4067175" y="3374571"/>
            <a:ext cx="1200150" cy="292553"/>
          </a:xfrm>
          <a:prstGeom prst="line">
            <a:avLst/>
          </a:prstGeom>
          <a:noFill/>
          <a:ln w="34290">
            <a:solidFill>
              <a:srgbClr val="277C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traight Connector 67">
            <a:extLst>
              <a:ext uri="{FF2B5EF4-FFF2-40B4-BE49-F238E27FC236}">
                <a16:creationId xmlns:a16="http://schemas.microsoft.com/office/drawing/2014/main" id="{D84B8C55-2064-40AF-9FC2-E51B58A2EF58}"/>
              </a:ext>
            </a:extLst>
          </p:cNvPr>
          <p:cNvSpPr>
            <a:spLocks noGrp="1"/>
          </p:cNvSpPr>
          <p:nvPr/>
        </p:nvSpPr>
        <p:spPr>
          <a:xfrm>
            <a:off x="5267325" y="3667125"/>
            <a:ext cx="1200150" cy="292554"/>
          </a:xfrm>
          <a:prstGeom prst="line">
            <a:avLst/>
          </a:prstGeom>
          <a:noFill/>
          <a:ln w="34290">
            <a:solidFill>
              <a:srgbClr val="277C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traight Connector 68">
            <a:extLst>
              <a:ext uri="{FF2B5EF4-FFF2-40B4-BE49-F238E27FC236}">
                <a16:creationId xmlns:a16="http://schemas.microsoft.com/office/drawing/2014/main" id="{98CE2E79-589F-47F8-92A4-0A7B2C1B7EFF}"/>
              </a:ext>
            </a:extLst>
          </p:cNvPr>
          <p:cNvSpPr>
            <a:spLocks noGrp="1"/>
          </p:cNvSpPr>
          <p:nvPr/>
        </p:nvSpPr>
        <p:spPr>
          <a:xfrm>
            <a:off x="6467475" y="3959679"/>
            <a:ext cx="1200150" cy="285750"/>
          </a:xfrm>
          <a:prstGeom prst="line">
            <a:avLst/>
          </a:prstGeom>
          <a:noFill/>
          <a:ln w="34290">
            <a:solidFill>
              <a:srgbClr val="277C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traight Connector 69">
            <a:extLst>
              <a:ext uri="{FF2B5EF4-FFF2-40B4-BE49-F238E27FC236}">
                <a16:creationId xmlns:a16="http://schemas.microsoft.com/office/drawing/2014/main" id="{0294939D-6E26-4D22-9AED-B879931D1841}"/>
              </a:ext>
            </a:extLst>
          </p:cNvPr>
          <p:cNvSpPr>
            <a:spLocks noGrp="1"/>
          </p:cNvSpPr>
          <p:nvPr/>
        </p:nvSpPr>
        <p:spPr>
          <a:xfrm>
            <a:off x="7667625" y="4245428"/>
            <a:ext cx="1200150" cy="285750"/>
          </a:xfrm>
          <a:prstGeom prst="line">
            <a:avLst/>
          </a:prstGeom>
          <a:noFill/>
          <a:ln w="34290">
            <a:solidFill>
              <a:srgbClr val="277C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F4A92BFA-0FE0-4A17-896F-576BE046F098}"/>
              </a:ext>
            </a:extLst>
          </p:cNvPr>
          <p:cNvSpPr>
            <a:spLocks noGrp="1"/>
          </p:cNvSpPr>
          <p:nvPr/>
        </p:nvSpPr>
        <p:spPr>
          <a:xfrm>
            <a:off x="1655921" y="2243910"/>
            <a:ext cx="21908" cy="710109"/>
          </a:xfrm>
          <a:prstGeom prst="rect">
            <a:avLst/>
          </a:prstGeom>
          <a:solidFill>
            <a:srgbClr val="277C7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EDF18506-F58D-4BDF-8D90-5A44976D4621}"/>
              </a:ext>
            </a:extLst>
          </p:cNvPr>
          <p:cNvSpPr>
            <a:spLocks noGrp="1"/>
          </p:cNvSpPr>
          <p:nvPr/>
        </p:nvSpPr>
        <p:spPr>
          <a:xfrm>
            <a:off x="1600200" y="2233432"/>
            <a:ext cx="133350" cy="20955"/>
          </a:xfrm>
          <a:prstGeom prst="rect">
            <a:avLst/>
          </a:prstGeom>
          <a:solidFill>
            <a:srgbClr val="277C7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B0DEFA1E-398D-4FC9-B88B-0C489458D463}"/>
              </a:ext>
            </a:extLst>
          </p:cNvPr>
          <p:cNvSpPr>
            <a:spLocks noGrp="1"/>
          </p:cNvSpPr>
          <p:nvPr/>
        </p:nvSpPr>
        <p:spPr>
          <a:xfrm>
            <a:off x="1600200" y="2943541"/>
            <a:ext cx="133350" cy="20955"/>
          </a:xfrm>
          <a:prstGeom prst="rect">
            <a:avLst/>
          </a:prstGeom>
          <a:solidFill>
            <a:srgbClr val="277C7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EAEB7F3A-EA1B-44D8-9B8D-0233F6A03DBF}"/>
              </a:ext>
            </a:extLst>
          </p:cNvPr>
          <p:cNvSpPr>
            <a:spLocks noGrp="1"/>
          </p:cNvSpPr>
          <p:nvPr/>
        </p:nvSpPr>
        <p:spPr>
          <a:xfrm>
            <a:off x="1614488" y="2546577"/>
            <a:ext cx="104775" cy="104775"/>
          </a:xfrm>
          <a:prstGeom prst="ellipse">
            <a:avLst/>
          </a:prstGeom>
          <a:solidFill>
            <a:srgbClr val="277C79"/>
          </a:solidFill>
          <a:ln w="14288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B9A914E0-ED59-43C0-9FB1-83C0561A5C80}"/>
              </a:ext>
            </a:extLst>
          </p:cNvPr>
          <p:cNvSpPr>
            <a:spLocks noGrp="1"/>
          </p:cNvSpPr>
          <p:nvPr/>
        </p:nvSpPr>
        <p:spPr>
          <a:xfrm>
            <a:off x="2856071" y="2726695"/>
            <a:ext cx="21908" cy="819504"/>
          </a:xfrm>
          <a:prstGeom prst="rect">
            <a:avLst/>
          </a:prstGeom>
          <a:solidFill>
            <a:srgbClr val="277C7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53BB992F-67D9-4F36-B369-ADE1F95C52E2}"/>
              </a:ext>
            </a:extLst>
          </p:cNvPr>
          <p:cNvSpPr>
            <a:spLocks noGrp="1"/>
          </p:cNvSpPr>
          <p:nvPr/>
        </p:nvSpPr>
        <p:spPr>
          <a:xfrm>
            <a:off x="2800350" y="2716217"/>
            <a:ext cx="133350" cy="20955"/>
          </a:xfrm>
          <a:prstGeom prst="rect">
            <a:avLst/>
          </a:prstGeom>
          <a:solidFill>
            <a:srgbClr val="277C7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D93F29E6-A069-4487-8159-593E1092F787}"/>
              </a:ext>
            </a:extLst>
          </p:cNvPr>
          <p:cNvSpPr>
            <a:spLocks noGrp="1"/>
          </p:cNvSpPr>
          <p:nvPr/>
        </p:nvSpPr>
        <p:spPr>
          <a:xfrm>
            <a:off x="2800350" y="3535721"/>
            <a:ext cx="133350" cy="20955"/>
          </a:xfrm>
          <a:prstGeom prst="rect">
            <a:avLst/>
          </a:prstGeom>
          <a:solidFill>
            <a:srgbClr val="277C7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9E56FD4C-992A-4B47-94D1-1A5F0B4B6C4A}"/>
              </a:ext>
            </a:extLst>
          </p:cNvPr>
          <p:cNvSpPr>
            <a:spLocks noGrp="1"/>
          </p:cNvSpPr>
          <p:nvPr/>
        </p:nvSpPr>
        <p:spPr>
          <a:xfrm>
            <a:off x="2814638" y="3084059"/>
            <a:ext cx="104775" cy="104775"/>
          </a:xfrm>
          <a:prstGeom prst="ellipse">
            <a:avLst/>
          </a:prstGeom>
          <a:solidFill>
            <a:srgbClr val="277C79"/>
          </a:solidFill>
          <a:ln w="14288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4CC1E872-7012-408D-9CF3-08660FF3E7CA}"/>
              </a:ext>
            </a:extLst>
          </p:cNvPr>
          <p:cNvSpPr>
            <a:spLocks noGrp="1"/>
          </p:cNvSpPr>
          <p:nvPr/>
        </p:nvSpPr>
        <p:spPr>
          <a:xfrm>
            <a:off x="4056221" y="2987488"/>
            <a:ext cx="21908" cy="774167"/>
          </a:xfrm>
          <a:prstGeom prst="rect">
            <a:avLst/>
          </a:prstGeom>
          <a:solidFill>
            <a:srgbClr val="277C7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20647E2A-94C7-4B2B-B20C-2E9E591B0615}"/>
              </a:ext>
            </a:extLst>
          </p:cNvPr>
          <p:cNvSpPr>
            <a:spLocks noGrp="1"/>
          </p:cNvSpPr>
          <p:nvPr/>
        </p:nvSpPr>
        <p:spPr>
          <a:xfrm>
            <a:off x="4000500" y="2977011"/>
            <a:ext cx="133350" cy="20955"/>
          </a:xfrm>
          <a:prstGeom prst="rect">
            <a:avLst/>
          </a:prstGeom>
          <a:solidFill>
            <a:srgbClr val="277C7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2F8DEBAF-C86A-4B47-A143-04A929313490}"/>
              </a:ext>
            </a:extLst>
          </p:cNvPr>
          <p:cNvSpPr>
            <a:spLocks noGrp="1"/>
          </p:cNvSpPr>
          <p:nvPr/>
        </p:nvSpPr>
        <p:spPr>
          <a:xfrm>
            <a:off x="4000500" y="3751177"/>
            <a:ext cx="133350" cy="20955"/>
          </a:xfrm>
          <a:prstGeom prst="rect">
            <a:avLst/>
          </a:prstGeom>
          <a:solidFill>
            <a:srgbClr val="277C7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96EA88D8-DB82-4E45-AD9E-7F3B69ED1FE4}"/>
              </a:ext>
            </a:extLst>
          </p:cNvPr>
          <p:cNvSpPr>
            <a:spLocks noGrp="1"/>
          </p:cNvSpPr>
          <p:nvPr/>
        </p:nvSpPr>
        <p:spPr>
          <a:xfrm>
            <a:off x="4014788" y="3322184"/>
            <a:ext cx="104775" cy="104775"/>
          </a:xfrm>
          <a:prstGeom prst="ellipse">
            <a:avLst/>
          </a:prstGeom>
          <a:solidFill>
            <a:srgbClr val="277C79"/>
          </a:solidFill>
          <a:ln w="14288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37FDC37C-7FAB-4CF0-B41A-92B8DBA33099}"/>
              </a:ext>
            </a:extLst>
          </p:cNvPr>
          <p:cNvSpPr>
            <a:spLocks noGrp="1"/>
          </p:cNvSpPr>
          <p:nvPr/>
        </p:nvSpPr>
        <p:spPr>
          <a:xfrm>
            <a:off x="5256371" y="3224187"/>
            <a:ext cx="21908" cy="885875"/>
          </a:xfrm>
          <a:prstGeom prst="rect">
            <a:avLst/>
          </a:prstGeom>
          <a:solidFill>
            <a:srgbClr val="277C7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4DBCAF44-092F-437B-B587-8497A105EDC9}"/>
              </a:ext>
            </a:extLst>
          </p:cNvPr>
          <p:cNvSpPr>
            <a:spLocks noGrp="1"/>
          </p:cNvSpPr>
          <p:nvPr/>
        </p:nvSpPr>
        <p:spPr>
          <a:xfrm>
            <a:off x="5200650" y="3213710"/>
            <a:ext cx="133350" cy="20955"/>
          </a:xfrm>
          <a:prstGeom prst="rect">
            <a:avLst/>
          </a:prstGeom>
          <a:solidFill>
            <a:srgbClr val="277C7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B0C3DDE9-3E2B-4EA4-8262-301C52BA071B}"/>
              </a:ext>
            </a:extLst>
          </p:cNvPr>
          <p:cNvSpPr>
            <a:spLocks noGrp="1"/>
          </p:cNvSpPr>
          <p:nvPr/>
        </p:nvSpPr>
        <p:spPr>
          <a:xfrm>
            <a:off x="5200650" y="4099585"/>
            <a:ext cx="133350" cy="20955"/>
          </a:xfrm>
          <a:prstGeom prst="rect">
            <a:avLst/>
          </a:prstGeom>
          <a:solidFill>
            <a:srgbClr val="277C7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631A8E7C-3990-423B-9C52-1AABA9509E55}"/>
              </a:ext>
            </a:extLst>
          </p:cNvPr>
          <p:cNvSpPr>
            <a:spLocks noGrp="1"/>
          </p:cNvSpPr>
          <p:nvPr/>
        </p:nvSpPr>
        <p:spPr>
          <a:xfrm>
            <a:off x="5214938" y="3614737"/>
            <a:ext cx="104775" cy="104775"/>
          </a:xfrm>
          <a:prstGeom prst="ellipse">
            <a:avLst/>
          </a:prstGeom>
          <a:solidFill>
            <a:srgbClr val="277C79"/>
          </a:solidFill>
          <a:ln w="14288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4B7539F8-25E3-43C7-9D41-48F141DBF658}"/>
              </a:ext>
            </a:extLst>
          </p:cNvPr>
          <p:cNvSpPr>
            <a:spLocks noGrp="1"/>
          </p:cNvSpPr>
          <p:nvPr/>
        </p:nvSpPr>
        <p:spPr>
          <a:xfrm>
            <a:off x="6456521" y="3535172"/>
            <a:ext cx="21908" cy="849013"/>
          </a:xfrm>
          <a:prstGeom prst="rect">
            <a:avLst/>
          </a:prstGeom>
          <a:solidFill>
            <a:srgbClr val="277C7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B30DE1A0-D4A9-494C-BA46-F8A284463BF0}"/>
              </a:ext>
            </a:extLst>
          </p:cNvPr>
          <p:cNvSpPr>
            <a:spLocks noGrp="1"/>
          </p:cNvSpPr>
          <p:nvPr/>
        </p:nvSpPr>
        <p:spPr>
          <a:xfrm>
            <a:off x="6400800" y="3524695"/>
            <a:ext cx="133350" cy="20955"/>
          </a:xfrm>
          <a:prstGeom prst="rect">
            <a:avLst/>
          </a:prstGeom>
          <a:solidFill>
            <a:srgbClr val="277C7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9C79CD24-09B7-404C-8896-14CAE9D648B7}"/>
              </a:ext>
            </a:extLst>
          </p:cNvPr>
          <p:cNvSpPr>
            <a:spLocks noGrp="1"/>
          </p:cNvSpPr>
          <p:nvPr/>
        </p:nvSpPr>
        <p:spPr>
          <a:xfrm>
            <a:off x="6400800" y="4373708"/>
            <a:ext cx="133350" cy="20955"/>
          </a:xfrm>
          <a:prstGeom prst="rect">
            <a:avLst/>
          </a:prstGeom>
          <a:solidFill>
            <a:srgbClr val="277C7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814C50DF-7DC8-4522-9094-FE24B726889C}"/>
              </a:ext>
            </a:extLst>
          </p:cNvPr>
          <p:cNvSpPr>
            <a:spLocks noGrp="1"/>
          </p:cNvSpPr>
          <p:nvPr/>
        </p:nvSpPr>
        <p:spPr>
          <a:xfrm>
            <a:off x="6415088" y="3907291"/>
            <a:ext cx="104775" cy="104775"/>
          </a:xfrm>
          <a:prstGeom prst="ellipse">
            <a:avLst/>
          </a:prstGeom>
          <a:solidFill>
            <a:srgbClr val="277C79"/>
          </a:solidFill>
          <a:ln w="14288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EABC1043-BF74-4056-897C-6D763D6B83AC}"/>
              </a:ext>
            </a:extLst>
          </p:cNvPr>
          <p:cNvSpPr>
            <a:spLocks noGrp="1"/>
          </p:cNvSpPr>
          <p:nvPr/>
        </p:nvSpPr>
        <p:spPr>
          <a:xfrm>
            <a:off x="7656671" y="3864486"/>
            <a:ext cx="21908" cy="755139"/>
          </a:xfrm>
          <a:prstGeom prst="rect">
            <a:avLst/>
          </a:prstGeom>
          <a:solidFill>
            <a:srgbClr val="277C7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4D4F101E-28EE-40AF-80EC-3325D41E905F}"/>
              </a:ext>
            </a:extLst>
          </p:cNvPr>
          <p:cNvSpPr>
            <a:spLocks noGrp="1"/>
          </p:cNvSpPr>
          <p:nvPr/>
        </p:nvSpPr>
        <p:spPr>
          <a:xfrm>
            <a:off x="7600950" y="3854008"/>
            <a:ext cx="133350" cy="20955"/>
          </a:xfrm>
          <a:prstGeom prst="rect">
            <a:avLst/>
          </a:prstGeom>
          <a:solidFill>
            <a:srgbClr val="277C7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EDCBA189-3D42-4B20-A670-0F2689672280}"/>
              </a:ext>
            </a:extLst>
          </p:cNvPr>
          <p:cNvSpPr>
            <a:spLocks noGrp="1"/>
          </p:cNvSpPr>
          <p:nvPr/>
        </p:nvSpPr>
        <p:spPr>
          <a:xfrm>
            <a:off x="7600950" y="4609148"/>
            <a:ext cx="133350" cy="20955"/>
          </a:xfrm>
          <a:prstGeom prst="rect">
            <a:avLst/>
          </a:prstGeom>
          <a:solidFill>
            <a:srgbClr val="277C7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C8AA3EFB-4D71-4647-845D-1B868F473DC4}"/>
              </a:ext>
            </a:extLst>
          </p:cNvPr>
          <p:cNvSpPr>
            <a:spLocks noGrp="1"/>
          </p:cNvSpPr>
          <p:nvPr/>
        </p:nvSpPr>
        <p:spPr>
          <a:xfrm>
            <a:off x="7615238" y="4193041"/>
            <a:ext cx="104775" cy="104775"/>
          </a:xfrm>
          <a:prstGeom prst="ellipse">
            <a:avLst/>
          </a:prstGeom>
          <a:solidFill>
            <a:srgbClr val="277C79"/>
          </a:solidFill>
          <a:ln w="14288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14F99409-7A04-4182-AC00-9F3A439C6FD1}"/>
              </a:ext>
            </a:extLst>
          </p:cNvPr>
          <p:cNvSpPr>
            <a:spLocks noGrp="1"/>
          </p:cNvSpPr>
          <p:nvPr/>
        </p:nvSpPr>
        <p:spPr>
          <a:xfrm>
            <a:off x="8856821" y="4255366"/>
            <a:ext cx="21908" cy="364259"/>
          </a:xfrm>
          <a:prstGeom prst="rect">
            <a:avLst/>
          </a:prstGeom>
          <a:solidFill>
            <a:srgbClr val="277C7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6F0134E8-D63C-4D18-9B86-2CCC722363BC}"/>
              </a:ext>
            </a:extLst>
          </p:cNvPr>
          <p:cNvSpPr>
            <a:spLocks noGrp="1"/>
          </p:cNvSpPr>
          <p:nvPr/>
        </p:nvSpPr>
        <p:spPr>
          <a:xfrm>
            <a:off x="8801100" y="4244889"/>
            <a:ext cx="133350" cy="20955"/>
          </a:xfrm>
          <a:prstGeom prst="rect">
            <a:avLst/>
          </a:prstGeom>
          <a:solidFill>
            <a:srgbClr val="277C7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0D3940F1-26C1-4EDE-AE2A-FEAACFD229B4}"/>
              </a:ext>
            </a:extLst>
          </p:cNvPr>
          <p:cNvSpPr>
            <a:spLocks noGrp="1"/>
          </p:cNvSpPr>
          <p:nvPr/>
        </p:nvSpPr>
        <p:spPr>
          <a:xfrm>
            <a:off x="8801100" y="4609148"/>
            <a:ext cx="133350" cy="20955"/>
          </a:xfrm>
          <a:prstGeom prst="rect">
            <a:avLst/>
          </a:prstGeom>
          <a:solidFill>
            <a:srgbClr val="277C7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5063E98D-B0BD-4EFE-A49B-8363C23F1A76}"/>
              </a:ext>
            </a:extLst>
          </p:cNvPr>
          <p:cNvSpPr>
            <a:spLocks noGrp="1"/>
          </p:cNvSpPr>
          <p:nvPr/>
        </p:nvSpPr>
        <p:spPr>
          <a:xfrm>
            <a:off x="8815388" y="4478791"/>
            <a:ext cx="104775" cy="104775"/>
          </a:xfrm>
          <a:prstGeom prst="ellipse">
            <a:avLst/>
          </a:prstGeom>
          <a:solidFill>
            <a:srgbClr val="277C79"/>
          </a:solidFill>
          <a:ln w="14288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4A0882E0-507D-4021-AA41-8B1266415E61}"/>
              </a:ext>
            </a:extLst>
          </p:cNvPr>
          <p:cNvSpPr>
            <a:spLocks noGrp="1"/>
          </p:cNvSpPr>
          <p:nvPr/>
        </p:nvSpPr>
        <p:spPr>
          <a:xfrm>
            <a:off x="10761821" y="4408912"/>
            <a:ext cx="21908" cy="210713"/>
          </a:xfrm>
          <a:prstGeom prst="rect">
            <a:avLst/>
          </a:prstGeom>
          <a:solidFill>
            <a:srgbClr val="277C7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707F3AB2-3ADD-4D00-AB2E-16468F0365C5}"/>
              </a:ext>
            </a:extLst>
          </p:cNvPr>
          <p:cNvSpPr>
            <a:spLocks noGrp="1"/>
          </p:cNvSpPr>
          <p:nvPr/>
        </p:nvSpPr>
        <p:spPr>
          <a:xfrm>
            <a:off x="10706100" y="4398434"/>
            <a:ext cx="133350" cy="20955"/>
          </a:xfrm>
          <a:prstGeom prst="rect">
            <a:avLst/>
          </a:prstGeom>
          <a:solidFill>
            <a:srgbClr val="277C7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E3ACB822-84E0-43F7-9E43-0E0166A7ACC6}"/>
              </a:ext>
            </a:extLst>
          </p:cNvPr>
          <p:cNvSpPr>
            <a:spLocks noGrp="1"/>
          </p:cNvSpPr>
          <p:nvPr/>
        </p:nvSpPr>
        <p:spPr>
          <a:xfrm>
            <a:off x="10706100" y="4609148"/>
            <a:ext cx="133350" cy="20955"/>
          </a:xfrm>
          <a:prstGeom prst="rect">
            <a:avLst/>
          </a:prstGeom>
          <a:solidFill>
            <a:srgbClr val="277C7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2FAAEEDD-BAB3-4710-B52A-37E9A5C59D76}"/>
              </a:ext>
            </a:extLst>
          </p:cNvPr>
          <p:cNvSpPr>
            <a:spLocks noGrp="1"/>
          </p:cNvSpPr>
          <p:nvPr/>
        </p:nvSpPr>
        <p:spPr>
          <a:xfrm>
            <a:off x="10720388" y="4526416"/>
            <a:ext cx="104775" cy="104775"/>
          </a:xfrm>
          <a:prstGeom prst="ellipse">
            <a:avLst/>
          </a:prstGeom>
          <a:solidFill>
            <a:srgbClr val="277C79"/>
          </a:solidFill>
          <a:ln w="14288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5A7ACF3B-B380-4AE4-88F9-098954559A7B}"/>
              </a:ext>
            </a:extLst>
          </p:cNvPr>
          <p:cNvSpPr>
            <a:spLocks noGrp="1"/>
          </p:cNvSpPr>
          <p:nvPr/>
        </p:nvSpPr>
        <p:spPr>
          <a:xfrm>
            <a:off x="1247775" y="4667250"/>
            <a:ext cx="762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200" b="0">
                <a:solidFill>
                  <a:srgbClr val="65727E"/>
                </a:solidFill>
                <a:latin typeface="DM Sans"/>
                <a:ea typeface="DM Sans"/>
                <a:cs typeface="DM Sans"/>
              </a:defRPr>
            </a:pPr>
            <a:r>
              <a:rPr sz="1200" b="0">
                <a:solidFill>
                  <a:srgbClr val="65727E"/>
                </a:solidFill>
                <a:latin typeface="DM Sans"/>
                <a:ea typeface="DM Sans"/>
                <a:cs typeface="DM Sans"/>
              </a:rPr>
              <a:t>Day 1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A10F560C-BE3A-4C82-AEC9-DE74621A9783}"/>
              </a:ext>
            </a:extLst>
          </p:cNvPr>
          <p:cNvSpPr>
            <a:spLocks noGrp="1"/>
          </p:cNvSpPr>
          <p:nvPr/>
        </p:nvSpPr>
        <p:spPr>
          <a:xfrm>
            <a:off x="2447925" y="4667250"/>
            <a:ext cx="762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200" b="0">
                <a:solidFill>
                  <a:srgbClr val="65727E"/>
                </a:solidFill>
                <a:latin typeface="DM Sans"/>
                <a:ea typeface="DM Sans"/>
                <a:cs typeface="DM Sans"/>
              </a:defRPr>
            </a:pPr>
            <a:r>
              <a:rPr sz="1200" b="0">
                <a:solidFill>
                  <a:srgbClr val="65727E"/>
                </a:solidFill>
                <a:latin typeface="DM Sans"/>
                <a:ea typeface="DM Sans"/>
                <a:cs typeface="DM Sans"/>
              </a:rPr>
              <a:t>Day 2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AE640630-9C1E-46DE-998D-F0C2F3CC1DE8}"/>
              </a:ext>
            </a:extLst>
          </p:cNvPr>
          <p:cNvSpPr>
            <a:spLocks noGrp="1"/>
          </p:cNvSpPr>
          <p:nvPr/>
        </p:nvSpPr>
        <p:spPr>
          <a:xfrm>
            <a:off x="3648075" y="4667250"/>
            <a:ext cx="762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200" b="0">
                <a:solidFill>
                  <a:srgbClr val="65727E"/>
                </a:solidFill>
                <a:latin typeface="DM Sans"/>
                <a:ea typeface="DM Sans"/>
                <a:cs typeface="DM Sans"/>
              </a:defRPr>
            </a:pPr>
            <a:r>
              <a:rPr sz="1200" b="0">
                <a:solidFill>
                  <a:srgbClr val="65727E"/>
                </a:solidFill>
                <a:latin typeface="DM Sans"/>
                <a:ea typeface="DM Sans"/>
                <a:cs typeface="DM Sans"/>
              </a:rPr>
              <a:t>Day 3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82ADC208-D75F-418A-A62B-1DDA64E24D33}"/>
              </a:ext>
            </a:extLst>
          </p:cNvPr>
          <p:cNvSpPr>
            <a:spLocks noGrp="1"/>
          </p:cNvSpPr>
          <p:nvPr/>
        </p:nvSpPr>
        <p:spPr>
          <a:xfrm>
            <a:off x="4848225" y="4667250"/>
            <a:ext cx="762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200" b="0">
                <a:solidFill>
                  <a:srgbClr val="65727E"/>
                </a:solidFill>
                <a:latin typeface="DM Sans"/>
                <a:ea typeface="DM Sans"/>
                <a:cs typeface="DM Sans"/>
              </a:defRPr>
            </a:pPr>
            <a:r>
              <a:rPr sz="1200" b="0">
                <a:solidFill>
                  <a:srgbClr val="65727E"/>
                </a:solidFill>
                <a:latin typeface="DM Sans"/>
                <a:ea typeface="DM Sans"/>
                <a:cs typeface="DM Sans"/>
              </a:rPr>
              <a:t>Day 4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84B4A58C-2759-408B-AD73-BB6DF4CC329D}"/>
              </a:ext>
            </a:extLst>
          </p:cNvPr>
          <p:cNvSpPr>
            <a:spLocks noGrp="1"/>
          </p:cNvSpPr>
          <p:nvPr/>
        </p:nvSpPr>
        <p:spPr>
          <a:xfrm>
            <a:off x="6048375" y="4667250"/>
            <a:ext cx="762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200" b="0">
                <a:solidFill>
                  <a:srgbClr val="65727E"/>
                </a:solidFill>
                <a:latin typeface="DM Sans"/>
                <a:ea typeface="DM Sans"/>
                <a:cs typeface="DM Sans"/>
              </a:defRPr>
            </a:pPr>
            <a:r>
              <a:rPr sz="1200" b="0">
                <a:solidFill>
                  <a:srgbClr val="65727E"/>
                </a:solidFill>
                <a:latin typeface="DM Sans"/>
                <a:ea typeface="DM Sans"/>
                <a:cs typeface="DM Sans"/>
              </a:rPr>
              <a:t>Day 5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86BA486D-F37D-46BF-9876-1207E3E69E6B}"/>
              </a:ext>
            </a:extLst>
          </p:cNvPr>
          <p:cNvSpPr>
            <a:spLocks noGrp="1"/>
          </p:cNvSpPr>
          <p:nvPr/>
        </p:nvSpPr>
        <p:spPr>
          <a:xfrm>
            <a:off x="7248525" y="4667250"/>
            <a:ext cx="762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200" b="0">
                <a:solidFill>
                  <a:srgbClr val="65727E"/>
                </a:solidFill>
                <a:latin typeface="DM Sans"/>
                <a:ea typeface="DM Sans"/>
                <a:cs typeface="DM Sans"/>
              </a:defRPr>
            </a:pPr>
            <a:r>
              <a:rPr sz="1200" b="0">
                <a:solidFill>
                  <a:srgbClr val="65727E"/>
                </a:solidFill>
                <a:latin typeface="DM Sans"/>
                <a:ea typeface="DM Sans"/>
                <a:cs typeface="DM Sans"/>
              </a:rPr>
              <a:t>Day 6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08C9F4F8-03CA-4D10-ADD5-9689A415D211}"/>
              </a:ext>
            </a:extLst>
          </p:cNvPr>
          <p:cNvSpPr>
            <a:spLocks noGrp="1"/>
          </p:cNvSpPr>
          <p:nvPr/>
        </p:nvSpPr>
        <p:spPr>
          <a:xfrm>
            <a:off x="8448675" y="4667250"/>
            <a:ext cx="762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200" b="0">
                <a:solidFill>
                  <a:srgbClr val="65727E"/>
                </a:solidFill>
                <a:latin typeface="DM Sans"/>
                <a:ea typeface="DM Sans"/>
                <a:cs typeface="DM Sans"/>
              </a:defRPr>
            </a:pPr>
            <a:r>
              <a:rPr sz="1200" b="0">
                <a:solidFill>
                  <a:srgbClr val="65727E"/>
                </a:solidFill>
                <a:latin typeface="DM Sans"/>
                <a:ea typeface="DM Sans"/>
                <a:cs typeface="DM Sans"/>
              </a:rPr>
              <a:t>Day 7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7F6F63CC-D129-4F99-957D-D0C4CCCAC04F}"/>
              </a:ext>
            </a:extLst>
          </p:cNvPr>
          <p:cNvSpPr>
            <a:spLocks noGrp="1"/>
          </p:cNvSpPr>
          <p:nvPr/>
        </p:nvSpPr>
        <p:spPr>
          <a:xfrm>
            <a:off x="10353675" y="4667250"/>
            <a:ext cx="762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200" b="0">
                <a:solidFill>
                  <a:srgbClr val="65727E"/>
                </a:solidFill>
                <a:latin typeface="DM Sans"/>
                <a:ea typeface="DM Sans"/>
                <a:cs typeface="DM Sans"/>
              </a:defRPr>
            </a:pPr>
            <a:r>
              <a:rPr sz="1200" b="0">
                <a:solidFill>
                  <a:srgbClr val="65727E"/>
                </a:solidFill>
                <a:latin typeface="DM Sans"/>
                <a:ea typeface="DM Sans"/>
                <a:cs typeface="DM Sans"/>
              </a:rPr>
              <a:t>Day 28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E3652EBC-1201-4235-99E5-50A035CC14C7}"/>
              </a:ext>
            </a:extLst>
          </p:cNvPr>
          <p:cNvSpPr>
            <a:spLocks noGrp="1"/>
          </p:cNvSpPr>
          <p:nvPr/>
        </p:nvSpPr>
        <p:spPr>
          <a:xfrm>
            <a:off x="9601200" y="4533900"/>
            <a:ext cx="4191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500" b="1">
                <a:solidFill>
                  <a:srgbClr val="65727E"/>
                </a:solidFill>
                <a:latin typeface="DM Sans"/>
                <a:ea typeface="DM Sans"/>
                <a:cs typeface="DM Sans"/>
              </a:defRPr>
            </a:pPr>
            <a:r>
              <a:rPr sz="1500" b="1">
                <a:solidFill>
                  <a:srgbClr val="65727E"/>
                </a:solidFill>
                <a:latin typeface="DM Sans"/>
                <a:ea typeface="DM Sans"/>
                <a:cs typeface="DM Sans"/>
              </a:rPr>
              <a:t>//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7A38DF9F-2BA9-48E1-AD20-18FCD0C68BD9}"/>
              </a:ext>
            </a:extLst>
          </p:cNvPr>
          <p:cNvSpPr>
            <a:spLocks noGrp="1"/>
          </p:cNvSpPr>
          <p:nvPr/>
        </p:nvSpPr>
        <p:spPr>
          <a:xfrm>
            <a:off x="6486525" y="2019300"/>
            <a:ext cx="4819650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425" b="1">
                <a:solidFill>
                  <a:srgbClr val="102A3C"/>
                </a:solidFill>
                <a:latin typeface="DM Sans"/>
                <a:ea typeface="DM Sans"/>
                <a:cs typeface="DM Sans"/>
              </a:defRPr>
            </a:pPr>
            <a:r>
              <a:rPr sz="1425" b="1">
                <a:solidFill>
                  <a:srgbClr val="102A3C"/>
                </a:solidFill>
                <a:latin typeface="DM Sans"/>
                <a:ea typeface="DM Sans"/>
                <a:cs typeface="DM Sans"/>
              </a:rPr>
              <a:t>Day 7 mean: control 0.46; experimental 0.24</a:t>
            </a:r>
          </a:p>
        </p:txBody>
      </p:sp>
      <p:graphicFrame>
        <p:nvGraphicFramePr>
          <p:cNvPr id="227" name="Table 226"/>
          <p:cNvGraphicFramePr/>
          <p:nvPr/>
        </p:nvGraphicFramePr>
        <p:xfrm>
          <a:off x="771525" y="5010150"/>
          <a:ext cx="10629900" cy="850392"/>
        </p:xfrm>
        <a:graphic>
          <a:graphicData uri="http://schemas.openxmlformats.org/drawingml/2006/table">
            <a:tbl>
              <a:tblPr firstRow="1" bandRow="1"/>
              <a:tblGrid>
                <a:gridCol w="1466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620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</a:rPr>
                        <a:t>Two-sided p</a:t>
                      </a:r>
                    </a:p>
                  </a:txBody>
                  <a:tcPr>
                    <a:solidFill>
                      <a:srgbClr val="102A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</a:rPr>
                        <a:t>Day 1</a:t>
                      </a:r>
                    </a:p>
                  </a:txBody>
                  <a:tcPr>
                    <a:solidFill>
                      <a:srgbClr val="102A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</a:rPr>
                        <a:t>Day 2</a:t>
                      </a:r>
                    </a:p>
                  </a:txBody>
                  <a:tcPr>
                    <a:solidFill>
                      <a:srgbClr val="102A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</a:rPr>
                        <a:t>Day 3</a:t>
                      </a:r>
                    </a:p>
                  </a:txBody>
                  <a:tcPr>
                    <a:solidFill>
                      <a:srgbClr val="102A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</a:rPr>
                        <a:t>Day 4</a:t>
                      </a:r>
                    </a:p>
                  </a:txBody>
                  <a:tcPr>
                    <a:solidFill>
                      <a:srgbClr val="102A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</a:rPr>
                        <a:t>Day 5</a:t>
                      </a:r>
                    </a:p>
                  </a:txBody>
                  <a:tcPr>
                    <a:solidFill>
                      <a:srgbClr val="102A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</a:rPr>
                        <a:t>Day 6</a:t>
                      </a:r>
                    </a:p>
                  </a:txBody>
                  <a:tcPr>
                    <a:solidFill>
                      <a:srgbClr val="102A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</a:rPr>
                        <a:t>Day 7</a:t>
                      </a:r>
                    </a:p>
                  </a:txBody>
                  <a:tcPr>
                    <a:solidFill>
                      <a:srgbClr val="102A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</a:rPr>
                        <a:t>Day 28</a:t>
                      </a:r>
                    </a:p>
                  </a:txBody>
                  <a:tcPr>
                    <a:solidFill>
                      <a:srgbClr val="102A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53342"/>
                          </a:solidFill>
                          <a:latin typeface="DM Sans"/>
                          <a:ea typeface="DM Sans"/>
                          <a:cs typeface="DM Sans"/>
                        </a:rPr>
                        <a:t>Mann–Whitney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53342"/>
                          </a:solidFill>
                          <a:latin typeface="DM Sans"/>
                          <a:ea typeface="DM Sans"/>
                          <a:cs typeface="DM Sans"/>
                        </a:rPr>
                        <a:t>0.434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53342"/>
                          </a:solidFill>
                          <a:latin typeface="DM Sans"/>
                          <a:ea typeface="DM Sans"/>
                          <a:cs typeface="DM Sans"/>
                        </a:rPr>
                        <a:t>&lt;0.001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53342"/>
                          </a:solidFill>
                          <a:latin typeface="DM Sans"/>
                          <a:ea typeface="DM Sans"/>
                          <a:cs typeface="DM Sans"/>
                        </a:rPr>
                        <a:t>&lt;0.001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53342"/>
                          </a:solidFill>
                          <a:latin typeface="DM Sans"/>
                          <a:ea typeface="DM Sans"/>
                          <a:cs typeface="DM Sans"/>
                        </a:rPr>
                        <a:t>&lt;0.001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53342"/>
                          </a:solidFill>
                          <a:latin typeface="DM Sans"/>
                          <a:ea typeface="DM Sans"/>
                          <a:cs typeface="DM Sans"/>
                        </a:rPr>
                        <a:t>&lt;0.001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53342"/>
                          </a:solidFill>
                          <a:latin typeface="DM Sans"/>
                          <a:ea typeface="DM Sans"/>
                          <a:cs typeface="DM Sans"/>
                        </a:rPr>
                        <a:t>0.021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53342"/>
                          </a:solidFill>
                          <a:latin typeface="DM Sans"/>
                          <a:ea typeface="DM Sans"/>
                          <a:cs typeface="DM Sans"/>
                        </a:rPr>
                        <a:t>0.013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53342"/>
                          </a:solidFill>
                          <a:latin typeface="DM Sans"/>
                          <a:ea typeface="DM Sans"/>
                          <a:cs typeface="DM Sans"/>
                        </a:rPr>
                        <a:t>0.070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53342"/>
                          </a:solidFill>
                          <a:latin typeface="DM Sans"/>
                          <a:ea typeface="DM Sans"/>
                          <a:cs typeface="DM Sans"/>
                        </a:rPr>
                        <a:t>Welch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53342"/>
                          </a:solidFill>
                          <a:latin typeface="DM Sans"/>
                          <a:ea typeface="DM Sans"/>
                          <a:cs typeface="DM Sans"/>
                        </a:rPr>
                        <a:t>0.434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53342"/>
                          </a:solidFill>
                          <a:latin typeface="DM Sans"/>
                          <a:ea typeface="DM Sans"/>
                          <a:cs typeface="DM Sans"/>
                        </a:rPr>
                        <a:t>&lt;0.001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53342"/>
                          </a:solidFill>
                          <a:latin typeface="DM Sans"/>
                          <a:ea typeface="DM Sans"/>
                          <a:cs typeface="DM Sans"/>
                        </a:rPr>
                        <a:t>&lt;0.001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53342"/>
                          </a:solidFill>
                          <a:latin typeface="DM Sans"/>
                          <a:ea typeface="DM Sans"/>
                          <a:cs typeface="DM Sans"/>
                        </a:rPr>
                        <a:t>&lt;0.001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53342"/>
                          </a:solidFill>
                          <a:latin typeface="DM Sans"/>
                          <a:ea typeface="DM Sans"/>
                          <a:cs typeface="DM Sans"/>
                        </a:rPr>
                        <a:t>&lt;0.001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53342"/>
                          </a:solidFill>
                          <a:latin typeface="DM Sans"/>
                          <a:ea typeface="DM Sans"/>
                          <a:cs typeface="DM Sans"/>
                        </a:rPr>
                        <a:t>0.024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53342"/>
                          </a:solidFill>
                          <a:latin typeface="DM Sans"/>
                          <a:ea typeface="DM Sans"/>
                          <a:cs typeface="DM Sans"/>
                        </a:rPr>
                        <a:t>0.120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53342"/>
                          </a:solidFill>
                          <a:latin typeface="DM Sans"/>
                          <a:ea typeface="DM Sans"/>
                          <a:cs typeface="DM Sans"/>
                        </a:rPr>
                        <a:t>0.182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4" name="Rectangle 113">
            <a:extLst>
              <a:ext uri="{FF2B5EF4-FFF2-40B4-BE49-F238E27FC236}">
                <a16:creationId xmlns:a16="http://schemas.microsoft.com/office/drawing/2014/main" id="{A7AC7838-BB27-443B-9BC5-6A0FA76F0233}"/>
              </a:ext>
            </a:extLst>
          </p:cNvPr>
          <p:cNvSpPr>
            <a:spLocks noGrp="1"/>
          </p:cNvSpPr>
          <p:nvPr/>
        </p:nvSpPr>
        <p:spPr>
          <a:xfrm>
            <a:off x="819150" y="5943600"/>
            <a:ext cx="1057275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125" b="0">
                <a:solidFill>
                  <a:srgbClr val="65727E"/>
                </a:solidFill>
                <a:latin typeface="DM Sans"/>
                <a:ea typeface="DM Sans"/>
                <a:cs typeface="DM Sans"/>
              </a:defRPr>
            </a:pPr>
            <a:r>
              <a:rPr sz="1125" b="0">
                <a:solidFill>
                  <a:srgbClr val="65727E"/>
                </a:solidFill>
                <a:latin typeface="DM Sans"/>
                <a:ea typeface="DM Sans"/>
                <a:cs typeface="DM Sans"/>
              </a:rPr>
              <a:t>Bars: ±1 SD (clipped at 0). Day 28 observed only. Unadjusted two-sided p: Mann–Whitney ranks; Welch means.</a:t>
            </a:r>
          </a:p>
        </p:txBody>
      </p:sp>
    </p:spTree>
    <p:extLst>
      <p:ext uri="{BB962C8B-B14F-4D97-AF65-F5344CB8AC3E}">
        <p14:creationId xmlns:p14="http://schemas.microsoft.com/office/powerpoint/2010/main" val="13624910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208C7A2-678E-4D83-A50D-08DFFE69FF98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00012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00" b="1">
                <a:solidFill>
                  <a:srgbClr val="277C79"/>
                </a:solidFill>
                <a:latin typeface="DM Sans"/>
                <a:ea typeface="DM Sans"/>
                <a:cs typeface="DM Sans"/>
              </a:defRPr>
            </a:pPr>
            <a:r>
              <a:rPr sz="1200" b="1">
                <a:solidFill>
                  <a:srgbClr val="277C79"/>
                </a:solidFill>
                <a:latin typeface="DM Sans"/>
                <a:ea typeface="DM Sans"/>
                <a:cs typeface="DM Sans"/>
              </a:rPr>
              <a:t>PUBLISHED-RESULT RECONCILIATION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C4EFE40-382D-405B-B640-B4CE886F49DE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104900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775" b="1">
                <a:solidFill>
                  <a:srgbClr val="102A3C"/>
                </a:solidFill>
                <a:latin typeface="DM Sans"/>
                <a:ea typeface="DM Sans"/>
                <a:cs typeface="DM Sans"/>
              </a:defRPr>
            </a:pPr>
            <a:r>
              <a:rPr sz="2775" b="1">
                <a:solidFill>
                  <a:srgbClr val="102A3C"/>
                </a:solidFill>
                <a:latin typeface="DM Sans"/>
                <a:ea typeface="DM Sans"/>
                <a:cs typeface="DM Sans"/>
              </a:rPr>
              <a:t>Some published values differ from source replication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233344F-377E-47E5-A4E6-22100260ABEE}"/>
              </a:ext>
            </a:extLst>
          </p:cNvPr>
          <p:cNvSpPr>
            <a:spLocks noGrp="1"/>
          </p:cNvSpPr>
          <p:nvPr/>
        </p:nvSpPr>
        <p:spPr>
          <a:xfrm>
            <a:off x="609600" y="6448425"/>
            <a:ext cx="66675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75" b="1">
                <a:solidFill>
                  <a:srgbClr val="E6634F"/>
                </a:solidFill>
                <a:latin typeface="DM Sans"/>
                <a:ea typeface="DM Sans"/>
                <a:cs typeface="DM Sans"/>
              </a:defRPr>
            </a:pPr>
            <a:r>
              <a:rPr sz="975" b="1">
                <a:solidFill>
                  <a:srgbClr val="E6634F"/>
                </a:solidFill>
                <a:latin typeface="DM Sans"/>
                <a:ea typeface="DM Sans"/>
                <a:cs typeface="DM Sans"/>
              </a:rPr>
              <a:t>PUBLISHED RCT · PUBLIC SUMMARY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B85E9EC-8EB8-420A-9006-9177ED7ED00B}"/>
              </a:ext>
            </a:extLst>
          </p:cNvPr>
          <p:cNvSpPr>
            <a:spLocks noGrp="1"/>
          </p:cNvSpPr>
          <p:nvPr/>
        </p:nvSpPr>
        <p:spPr>
          <a:xfrm>
            <a:off x="11287125" y="6448425"/>
            <a:ext cx="333375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975" b="0">
                <a:solidFill>
                  <a:srgbClr val="65727E"/>
                </a:solidFill>
                <a:latin typeface="DM Sans"/>
                <a:ea typeface="DM Sans"/>
                <a:cs typeface="DM Sans"/>
              </a:defRPr>
            </a:pPr>
            <a:r>
              <a:rPr sz="975" b="0">
                <a:solidFill>
                  <a:srgbClr val="65727E"/>
                </a:solidFill>
                <a:latin typeface="DM Sans"/>
                <a:ea typeface="DM Sans"/>
                <a:cs typeface="DM Sans"/>
              </a:rPr>
              <a:t>8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047F13-6689-4A45-BA82-820EE9105FB8}"/>
              </a:ext>
            </a:extLst>
          </p:cNvPr>
          <p:cNvSpPr>
            <a:spLocks noGrp="1"/>
          </p:cNvSpPr>
          <p:nvPr/>
        </p:nvSpPr>
        <p:spPr>
          <a:xfrm>
            <a:off x="4286250" y="6191250"/>
            <a:ext cx="73342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900" b="0">
                <a:solidFill>
                  <a:srgbClr val="65727E"/>
                </a:solidFill>
                <a:latin typeface="DM Sans"/>
                <a:ea typeface="DM Sans"/>
                <a:cs typeface="DM Sans"/>
              </a:defRPr>
            </a:pPr>
            <a:r>
              <a:rPr sz="900" b="0">
                <a:solidFill>
                  <a:srgbClr val="65727E"/>
                </a:solidFill>
                <a:latin typeface="DM Sans"/>
                <a:ea typeface="DM Sans"/>
                <a:cs typeface="DM Sans"/>
              </a:rPr>
              <a:t>Source: source replication tables and reconciliation.csv</a:t>
            </a:r>
          </a:p>
        </p:txBody>
      </p:sp>
      <p:graphicFrame>
        <p:nvGraphicFramePr>
          <p:cNvPr id="13" name="Table 12"/>
          <p:cNvGraphicFramePr/>
          <p:nvPr>
            <p:extLst>
              <p:ext uri="{D42A27DB-BD31-4B8C-83A1-F6EECF244321}">
                <p14:modId xmlns:p14="http://schemas.microsoft.com/office/powerpoint/2010/main" val="4151662626"/>
              </p:ext>
            </p:extLst>
          </p:nvPr>
        </p:nvGraphicFramePr>
        <p:xfrm>
          <a:off x="762000" y="1714500"/>
          <a:ext cx="10668000" cy="2833690"/>
        </p:xfrm>
        <a:graphic>
          <a:graphicData uri="http://schemas.openxmlformats.org/drawingml/2006/table">
            <a:tbl>
              <a:tblPr firstRow="1" bandRow="1"/>
              <a:tblGrid>
                <a:gridCol w="4000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7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738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</a:rPr>
                        <a:t>Item</a:t>
                      </a:r>
                    </a:p>
                  </a:txBody>
                  <a:tcPr>
                    <a:solidFill>
                      <a:srgbClr val="102A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</a:rPr>
                        <a:t>Published paper</a:t>
                      </a:r>
                    </a:p>
                  </a:txBody>
                  <a:tcPr>
                    <a:solidFill>
                      <a:srgbClr val="102A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</a:rPr>
                        <a:t>Source replication</a:t>
                      </a:r>
                    </a:p>
                  </a:txBody>
                  <a:tcPr>
                    <a:solidFill>
                      <a:srgbClr val="102A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738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53342"/>
                          </a:solidFill>
                          <a:latin typeface="DM Sans"/>
                          <a:ea typeface="DM Sans"/>
                          <a:cs typeface="DM Sans"/>
                        </a:rPr>
                        <a:t>Day-7 cure p-value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 dirty="0">
                          <a:solidFill>
                            <a:srgbClr val="253342"/>
                          </a:solidFill>
                          <a:latin typeface="DM Sans"/>
                          <a:ea typeface="DM Sans"/>
                          <a:cs typeface="DM Sans"/>
                        </a:rPr>
                        <a:t>Text: &lt; 0.005</a:t>
                      </a:r>
                      <a:r>
                        <a:rPr lang="en-US" sz="1425" b="0" dirty="0">
                          <a:solidFill>
                            <a:srgbClr val="253342"/>
                          </a:solidFill>
                          <a:latin typeface="DM Sans"/>
                          <a:ea typeface="DM Sans"/>
                          <a:cs typeface="DM Sans"/>
                        </a:rPr>
                        <a:t>; Figure 3: 0.009</a:t>
                      </a:r>
                      <a:endParaRPr sz="1425" b="0" dirty="0">
                        <a:solidFill>
                          <a:srgbClr val="253342"/>
                        </a:solidFill>
                        <a:latin typeface="DM Sans"/>
                        <a:ea typeface="DM Sans"/>
                        <a:cs typeface="DM Sans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53342"/>
                          </a:solidFill>
                          <a:latin typeface="DM Sans"/>
                          <a:ea typeface="DM Sans"/>
                          <a:cs typeface="DM Sans"/>
                        </a:rPr>
                        <a:t>0.008662 (two-sided Pearson)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738">
                <a:tc>
                  <a:txBody>
                    <a:bodyPr/>
                    <a:lstStyle/>
                    <a:p>
                      <a:r>
                        <a:rPr sz="1425" b="0" dirty="0">
                          <a:solidFill>
                            <a:srgbClr val="253342"/>
                          </a:solidFill>
                          <a:latin typeface="DM Sans"/>
                          <a:ea typeface="DM Sans"/>
                          <a:cs typeface="DM Sans"/>
                        </a:rPr>
                        <a:t>DLQI change, experimental IQR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53342"/>
                          </a:solidFill>
                          <a:latin typeface="DM Sans"/>
                          <a:ea typeface="DM Sans"/>
                          <a:cs typeface="DM Sans"/>
                        </a:rPr>
                        <a:t>1.25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 dirty="0">
                          <a:solidFill>
                            <a:srgbClr val="253342"/>
                          </a:solidFill>
                          <a:latin typeface="DM Sans"/>
                          <a:ea typeface="DM Sans"/>
                          <a:cs typeface="DM Sans"/>
                        </a:rPr>
                        <a:t>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738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53342"/>
                          </a:solidFill>
                          <a:latin typeface="DM Sans"/>
                          <a:ea typeface="DM Sans"/>
                          <a:cs typeface="DM Sans"/>
                        </a:rPr>
                        <a:t>Gastrointestinal disorder count</a:t>
                      </a:r>
                    </a:p>
                  </a:txBody>
                  <a:tcPr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53342"/>
                          </a:solidFill>
                          <a:latin typeface="DM Sans"/>
                          <a:ea typeface="DM Sans"/>
                          <a:cs typeface="DM Sans"/>
                        </a:rPr>
                        <a:t>21</a:t>
                      </a:r>
                    </a:p>
                  </a:txBody>
                  <a:tcPr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53342"/>
                          </a:solidFill>
                          <a:latin typeface="DM Sans"/>
                          <a:ea typeface="DM Sans"/>
                          <a:cs typeface="DM Sans"/>
                        </a:rPr>
                        <a:t>20</a:t>
                      </a:r>
                    </a:p>
                  </a:txBody>
                  <a:tcPr>
                    <a:solidFill>
                      <a:srgbClr val="EA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738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53342"/>
                          </a:solidFill>
                          <a:latin typeface="DM Sans"/>
                          <a:ea typeface="DM Sans"/>
                          <a:cs typeface="DM Sans"/>
                        </a:rPr>
                        <a:t>Vomiting count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53342"/>
                          </a:solidFill>
                          <a:latin typeface="DM Sans"/>
                          <a:ea typeface="DM Sans"/>
                          <a:cs typeface="DM Sans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 dirty="0">
                          <a:solidFill>
                            <a:srgbClr val="253342"/>
                          </a:solidFill>
                          <a:latin typeface="DM Sans"/>
                          <a:ea typeface="DM Sans"/>
                          <a:cs typeface="DM Sans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5749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F4DB078-9A09-412F-A757-BE3B2097EBEB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00012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00" b="1">
                <a:solidFill>
                  <a:srgbClr val="277C79"/>
                </a:solidFill>
                <a:latin typeface="DM Sans"/>
                <a:ea typeface="DM Sans"/>
                <a:cs typeface="DM Sans"/>
              </a:defRPr>
            </a:pPr>
            <a:r>
              <a:rPr sz="1200" b="1">
                <a:solidFill>
                  <a:srgbClr val="277C79"/>
                </a:solidFill>
                <a:latin typeface="DM Sans"/>
                <a:ea typeface="DM Sans"/>
                <a:cs typeface="DM Sans"/>
              </a:rPr>
              <a:t>CONCLUSIONS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6720552-E589-4AA5-8689-BD56266D23E2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104900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775" b="1">
                <a:solidFill>
                  <a:srgbClr val="102A3C"/>
                </a:solidFill>
                <a:latin typeface="DM Sans"/>
                <a:ea typeface="DM Sans"/>
                <a:cs typeface="DM Sans"/>
              </a:defRPr>
            </a:pPr>
            <a:r>
              <a:rPr sz="2775" b="1">
                <a:solidFill>
                  <a:srgbClr val="102A3C"/>
                </a:solidFill>
                <a:latin typeface="DM Sans"/>
                <a:ea typeface="DM Sans"/>
                <a:cs typeface="DM Sans"/>
              </a:rPr>
              <a:t>The trial provides a real-data benchmark for QiBo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E8F3DE-5247-49E5-AFB4-59B38D7576FE}"/>
              </a:ext>
            </a:extLst>
          </p:cNvPr>
          <p:cNvSpPr>
            <a:spLocks noGrp="1"/>
          </p:cNvSpPr>
          <p:nvPr/>
        </p:nvSpPr>
        <p:spPr>
          <a:xfrm>
            <a:off x="609600" y="6448425"/>
            <a:ext cx="66675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75" b="1">
                <a:solidFill>
                  <a:srgbClr val="E6634F"/>
                </a:solidFill>
                <a:latin typeface="DM Sans"/>
                <a:ea typeface="DM Sans"/>
                <a:cs typeface="DM Sans"/>
              </a:defRPr>
            </a:pPr>
            <a:r>
              <a:rPr sz="975" b="1">
                <a:solidFill>
                  <a:srgbClr val="E6634F"/>
                </a:solidFill>
                <a:latin typeface="DM Sans"/>
                <a:ea typeface="DM Sans"/>
                <a:cs typeface="DM Sans"/>
              </a:rPr>
              <a:t>PUBLISHED RCT · PUBLIC SUMMARY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573D2E0-CA68-4DF4-8A7F-16FF0D44DFF6}"/>
              </a:ext>
            </a:extLst>
          </p:cNvPr>
          <p:cNvSpPr>
            <a:spLocks noGrp="1"/>
          </p:cNvSpPr>
          <p:nvPr/>
        </p:nvSpPr>
        <p:spPr>
          <a:xfrm>
            <a:off x="11287125" y="6448425"/>
            <a:ext cx="333375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975" b="0">
                <a:solidFill>
                  <a:srgbClr val="65727E"/>
                </a:solidFill>
                <a:latin typeface="DM Sans"/>
                <a:ea typeface="DM Sans"/>
                <a:cs typeface="DM Sans"/>
              </a:defRPr>
            </a:pPr>
            <a:r>
              <a:rPr sz="975" b="0">
                <a:solidFill>
                  <a:srgbClr val="65727E"/>
                </a:solidFill>
                <a:latin typeface="DM Sans"/>
                <a:ea typeface="DM Sans"/>
                <a:cs typeface="DM Sans"/>
              </a:rPr>
              <a:t>9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537BD5-E68B-4D5A-BE6D-71AD49A583DF}"/>
              </a:ext>
            </a:extLst>
          </p:cNvPr>
          <p:cNvSpPr>
            <a:spLocks noGrp="1"/>
          </p:cNvSpPr>
          <p:nvPr/>
        </p:nvSpPr>
        <p:spPr>
          <a:xfrm>
            <a:off x="762000" y="1809750"/>
            <a:ext cx="5191125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00" b="1">
                <a:solidFill>
                  <a:srgbClr val="277C79"/>
                </a:solidFill>
                <a:latin typeface="DM Sans"/>
                <a:ea typeface="DM Sans"/>
                <a:cs typeface="DM Sans"/>
              </a:defRPr>
            </a:pPr>
            <a:r>
              <a:rPr sz="2100" b="1">
                <a:solidFill>
                  <a:srgbClr val="277C79"/>
                </a:solidFill>
                <a:latin typeface="DM Sans"/>
                <a:ea typeface="DM Sans"/>
                <a:cs typeface="DM Sans"/>
              </a:rPr>
              <a:t>What we demonstrated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12974C-8DC2-4C9C-A18F-FD03BB08FCB4}"/>
              </a:ext>
            </a:extLst>
          </p:cNvPr>
          <p:cNvSpPr>
            <a:spLocks noGrp="1"/>
          </p:cNvSpPr>
          <p:nvPr/>
        </p:nvSpPr>
        <p:spPr>
          <a:xfrm>
            <a:off x="762000" y="2371725"/>
            <a:ext cx="5048250" cy="2038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00" b="0">
                <a:solidFill>
                  <a:srgbClr val="253342"/>
                </a:solidFill>
                <a:latin typeface="DM Sans"/>
                <a:ea typeface="DM Sans"/>
                <a:cs typeface="DM Sans"/>
              </a:defRPr>
            </a:pPr>
            <a:r>
              <a:rPr sz="1800" b="0">
                <a:solidFill>
                  <a:srgbClr val="253342"/>
                </a:solidFill>
                <a:latin typeface="DM Sans"/>
                <a:ea typeface="DM Sans"/>
                <a:cs typeface="DM Sans"/>
              </a:rPr>
              <a:t>The prespecified day-7 cure comparison reproduced the group rates and favored the experimental assignment. Source and OMOP analyses matched across eight result tables.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2BB6EB8-B4F9-4C84-8973-8CFD872C29FC}"/>
              </a:ext>
            </a:extLst>
          </p:cNvPr>
          <p:cNvSpPr>
            <a:spLocks noGrp="1"/>
          </p:cNvSpPr>
          <p:nvPr/>
        </p:nvSpPr>
        <p:spPr>
          <a:xfrm>
            <a:off x="6286500" y="1809750"/>
            <a:ext cx="5000625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00" b="1">
                <a:solidFill>
                  <a:srgbClr val="E6634F"/>
                </a:solidFill>
                <a:latin typeface="DM Sans"/>
                <a:ea typeface="DM Sans"/>
                <a:cs typeface="DM Sans"/>
              </a:defRPr>
            </a:pPr>
            <a:r>
              <a:rPr sz="2100" b="1">
                <a:solidFill>
                  <a:srgbClr val="E6634F"/>
                </a:solidFill>
                <a:latin typeface="DM Sans"/>
                <a:ea typeface="DM Sans"/>
                <a:cs typeface="DM Sans"/>
              </a:rPr>
              <a:t>What remains limited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055026A-2420-4BDB-B383-0394292A02E9}"/>
              </a:ext>
            </a:extLst>
          </p:cNvPr>
          <p:cNvSpPr>
            <a:spLocks noGrp="1"/>
          </p:cNvSpPr>
          <p:nvPr/>
        </p:nvSpPr>
        <p:spPr>
          <a:xfrm>
            <a:off x="6286500" y="2371725"/>
            <a:ext cx="5000625" cy="2038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00" b="0">
                <a:solidFill>
                  <a:srgbClr val="253342"/>
                </a:solidFill>
                <a:latin typeface="DM Sans"/>
                <a:ea typeface="DM Sans"/>
                <a:cs typeface="DM Sans"/>
              </a:defRPr>
            </a:pPr>
            <a:r>
              <a:rPr sz="1800" b="0">
                <a:solidFill>
                  <a:srgbClr val="253342"/>
                </a:solidFill>
                <a:latin typeface="DM Sans"/>
                <a:ea typeface="DM Sans"/>
                <a:cs typeface="DM Sans"/>
              </a:rPr>
              <a:t>The participant workbook had limited clinical event and provenance fields. Treatment delivery was unverified; 14 absent CDM tables restricted DQD, and some published values differ.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387E53C-056E-40AB-9DF3-E2EDDBE35D96}"/>
              </a:ext>
            </a:extLst>
          </p:cNvPr>
          <p:cNvSpPr>
            <a:spLocks noGrp="1"/>
          </p:cNvSpPr>
          <p:nvPr/>
        </p:nvSpPr>
        <p:spPr>
          <a:xfrm>
            <a:off x="762000" y="4810125"/>
            <a:ext cx="104775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950" b="1">
                <a:solidFill>
                  <a:srgbClr val="102A3C"/>
                </a:solidFill>
                <a:latin typeface="DM Sans"/>
                <a:ea typeface="DM Sans"/>
                <a:cs typeface="DM Sans"/>
              </a:defRPr>
            </a:pPr>
            <a:r>
              <a:rPr sz="1950" b="1">
                <a:solidFill>
                  <a:srgbClr val="102A3C"/>
                </a:solidFill>
                <a:latin typeface="DM Sans"/>
                <a:ea typeface="DM Sans"/>
                <a:cs typeface="DM Sans"/>
              </a:rPr>
              <a:t>Decision for the next study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DE14EB1-392F-4A0E-88E3-9A5AAD0C81DF}"/>
              </a:ext>
            </a:extLst>
          </p:cNvPr>
          <p:cNvSpPr>
            <a:spLocks noGrp="1"/>
          </p:cNvSpPr>
          <p:nvPr/>
        </p:nvSpPr>
        <p:spPr>
          <a:xfrm>
            <a:off x="762000" y="5286375"/>
            <a:ext cx="10572750" cy="1000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725" b="0">
                <a:solidFill>
                  <a:srgbClr val="253342"/>
                </a:solidFill>
                <a:latin typeface="DM Sans"/>
                <a:ea typeface="DM Sans"/>
                <a:cs typeface="DM Sans"/>
              </a:defRPr>
            </a:pPr>
            <a:r>
              <a:rPr sz="1725" b="0">
                <a:solidFill>
                  <a:srgbClr val="253342"/>
                </a:solidFill>
                <a:latin typeface="DM Sans"/>
                <a:ea typeface="DM Sans"/>
                <a:cs typeface="DM Sans"/>
              </a:rPr>
              <a:t>Search openly available pragmatic RCT or observational data with individual treatment, event and follow-up records. Screen candidates for source detail, reuse rights and OMOP table coverage.</a:t>
            </a:r>
          </a:p>
        </p:txBody>
      </p:sp>
    </p:spTree>
    <p:extLst>
      <p:ext uri="{BB962C8B-B14F-4D97-AF65-F5344CB8AC3E}">
        <p14:creationId xmlns:p14="http://schemas.microsoft.com/office/powerpoint/2010/main" val="948231766"/>
      </p:ext>
    </p:extLst>
  </p:cSld>
  <p:clrMapOvr>
    <a:masterClrMapping/>
  </p:clrMapOvr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892B0A-2B87-423E-BB81-C28AE1EE9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77C79"/>
                </a:solidFill>
                <a:latin typeface="DM Sans"/>
                <a:ea typeface="DM Sans"/>
                <a:cs typeface="DM Sans"/>
              </a:defRPr>
            </a:pPr>
            <a:r>
              <a:rPr sz="1200" b="1">
                <a:solidFill>
                  <a:srgbClr val="277C79"/>
                </a:solidFill>
                <a:latin typeface="DM Sans"/>
                <a:ea typeface="DM Sans"/>
                <a:cs typeface="DM Sans"/>
              </a:rPr>
              <a:t>NEXT STUDY · IPD ACCESS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D0F7AF-4FA1-457C-BBA1-438E4EBCE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02A3C"/>
                </a:solidFill>
                <a:latin typeface="DM Sans"/>
                <a:ea typeface="DM Sans"/>
                <a:cs typeface="DM Sans"/>
              </a:defRPr>
            </a:pPr>
            <a:r>
              <a:rPr sz="2775" b="1">
                <a:solidFill>
                  <a:srgbClr val="102A3C"/>
                </a:solidFill>
                <a:latin typeface="DM Sans"/>
                <a:ea typeface="DM Sans"/>
                <a:cs typeface="DM Sans"/>
              </a:rPr>
              <a:t>Candidates for the next IPD replication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6EE70A-F430-4F2A-885D-C92BFC4A5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6634F"/>
                </a:solidFill>
                <a:latin typeface="DM Sans"/>
                <a:ea typeface="DM Sans"/>
                <a:cs typeface="DM Sans"/>
              </a:defRPr>
            </a:pPr>
            <a:r>
              <a:rPr sz="975" b="1">
                <a:solidFill>
                  <a:srgbClr val="E6634F"/>
                </a:solidFill>
                <a:latin typeface="DM Sans"/>
                <a:ea typeface="DM Sans"/>
                <a:cs typeface="DM Sans"/>
              </a:rPr>
              <a:t>NEXT STUDY · PUBLIC SUMMARY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04E15C-8DAE-413C-83D4-23FA4A0D7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48425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5727E"/>
                </a:solidFill>
                <a:latin typeface="DM Sans"/>
                <a:ea typeface="DM Sans"/>
                <a:cs typeface="DM Sans"/>
              </a:defRPr>
            </a:pPr>
            <a:r>
              <a:rPr sz="975" b="0">
                <a:solidFill>
                  <a:srgbClr val="65727E"/>
                </a:solidFill>
                <a:latin typeface="DM Sans"/>
                <a:ea typeface="DM Sans"/>
                <a:cs typeface="DM Sans"/>
              </a:rPr>
              <a:t>10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762000" y="1543050"/>
          <a:ext xmlns:a="http://schemas.openxmlformats.org/drawingml/2006/main" cx="10668000" cy="37433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076450"/>
                <a:gridCol w="3238500"/>
                <a:gridCol w="2266950"/>
                <a:gridCol w="3086100"/>
              </a:tblGrid>
              <a:tr h="4762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</a:rPr>
                        <a:t>Study</a:t>
                      </a:r>
                    </a:p>
                  </a:txBody>
                  <a:tcPr marL="95250" marR="76200" marT="66675" marB="57150" anchor="ctr">
                    <a:solidFill>
                      <a:srgbClr val="102A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</a:rPr>
                        <a:t>Comparison and endpoint</a:t>
                      </a:r>
                    </a:p>
                  </a:txBody>
                  <a:tcPr marL="95250" marR="76200" marT="66675" marB="57150" anchor="ctr">
                    <a:solidFill>
                      <a:srgbClr val="102A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</a:rPr>
                        <a:t>IPD path</a:t>
                      </a:r>
                    </a:p>
                  </a:txBody>
                  <a:tcPr marL="95250" marR="76200" marT="66675" marB="57150" anchor="ctr">
                    <a:solidFill>
                      <a:srgbClr val="102A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</a:rPr>
                        <a:t>Main limitation</a:t>
                      </a:r>
                    </a:p>
                  </a:txBody>
                  <a:tcPr marL="95250" marR="76200" marT="66675" marB="57150" anchor="ctr">
                    <a:solidFill>
                      <a:srgbClr val="102A3C"/>
                    </a:solidFill>
                  </a:tcPr>
                </a:tc>
              </a:tr>
              <a:tr h="653415">
                <a:tc>
                  <a:txBody>
                    <a:bodyPr/>
                    <a:lstStyle/>
                    <a:p>
                      <a:r>
                        <a:rPr sz="1313" b="1">
                          <a:solidFill>
                            <a:srgbClr val="253342"/>
                          </a:solidFill>
                          <a:latin typeface="DM Sans"/>
                          <a:ea typeface="DM Sans"/>
                          <a:cs typeface="DM Sans"/>
                        </a:rPr>
                        <a:t>Armour 2017</a:t>
                      </a:r>
                    </a:p>
                    <a:p>
                      <a:r>
                        <a:rPr sz="1313" b="1">
                          <a:solidFill>
                            <a:srgbClr val="253342"/>
                          </a:solidFill>
                          <a:latin typeface="DM Sans"/>
                          <a:ea typeface="DM Sans"/>
                          <a:cs typeface="DM Sans"/>
                        </a:rPr>
                        <a:t>RCT · N=74</a:t>
                      </a:r>
                    </a:p>
                  </a:txBody>
                  <a:tcPr marL="95250" marR="76200" marT="66675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 b="0">
                          <a:solidFill>
                            <a:srgbClr val="253342"/>
                          </a:solidFill>
                          <a:latin typeface="DM Sans"/>
                          <a:ea typeface="DM Sans"/>
                          <a:cs typeface="DM Sans"/>
                        </a:rPr>
                        <a:t>Four acupuncture regimens; menstrual pain</a:t>
                      </a:r>
                    </a:p>
                  </a:txBody>
                  <a:tcPr marL="95250" marR="76200" marT="66675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 b="0">
                          <a:solidFill>
                            <a:srgbClr val="253342"/>
                          </a:solidFill>
                          <a:latin typeface="DM Sans"/>
                          <a:ea typeface="DM Sans"/>
                          <a:cs typeface="DM Sans"/>
                        </a:rPr>
                        <a:t>Open SPSS files</a:t>
                      </a:r>
                    </a:p>
                    <a:p>
                      <a:r>
                        <a:rPr sz="1313" b="0">
                          <a:solidFill>
                            <a:srgbClr val="253342"/>
                          </a:solidFill>
                          <a:latin typeface="DM Sans"/>
                          <a:ea typeface="DM Sans"/>
                          <a:cs typeface="DM Sans"/>
                        </a:rPr>
                        <a:t>ITT and per protocol</a:t>
                      </a:r>
                    </a:p>
                  </a:txBody>
                  <a:tcPr marL="95250" marR="76200" marT="66675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 b="0">
                          <a:solidFill>
                            <a:srgbClr val="253342"/>
                          </a:solidFill>
                          <a:latin typeface="DM Sans"/>
                          <a:ea typeface="DM Sans"/>
                          <a:cs typeface="DM Sans"/>
                        </a:rPr>
                        <a:t>No untreated arm; 12-month missingness</a:t>
                      </a:r>
                    </a:p>
                  </a:txBody>
                  <a:tcPr marL="95250" marR="76200" marT="66675" marB="57150" anchor="ctr">
                    <a:solidFill>
                      <a:srgbClr val="FFFFFF"/>
                    </a:solidFill>
                  </a:tcPr>
                </a:tc>
              </a:tr>
              <a:tr h="653415">
                <a:tc>
                  <a:txBody>
                    <a:bodyPr/>
                    <a:lstStyle/>
                    <a:p>
                      <a:r>
                        <a:rPr sz="1313" b="1">
                          <a:solidFill>
                            <a:srgbClr val="253342"/>
                          </a:solidFill>
                          <a:latin typeface="DM Sans"/>
                          <a:ea typeface="DM Sans"/>
                          <a:cs typeface="DM Sans"/>
                        </a:rPr>
                        <a:t>Conboy 2016</a:t>
                      </a:r>
                    </a:p>
                    <a:p>
                      <a:r>
                        <a:rPr sz="1313" b="1">
                          <a:solidFill>
                            <a:srgbClr val="253342"/>
                          </a:solidFill>
                          <a:latin typeface="DM Sans"/>
                          <a:ea typeface="DM Sans"/>
                          <a:cs typeface="DM Sans"/>
                        </a:rPr>
                        <a:t>Pragmatic RCT · N=104</a:t>
                      </a:r>
                    </a:p>
                  </a:txBody>
                  <a:tcPr marL="95250" marR="76200" marT="66675" marB="57150" anchor="ctr"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 b="0">
                          <a:solidFill>
                            <a:srgbClr val="253342"/>
                          </a:solidFill>
                          <a:latin typeface="DM Sans"/>
                          <a:ea typeface="DM Sans"/>
                          <a:cs typeface="DM Sans"/>
                        </a:rPr>
                        <a:t>Early vs delayed individualized acupuncture; SF-36 physical</a:t>
                      </a:r>
                    </a:p>
                  </a:txBody>
                  <a:tcPr marL="95250" marR="76200" marT="66675" marB="57150" anchor="ctr"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 b="0">
                          <a:solidFill>
                            <a:srgbClr val="253342"/>
                          </a:solidFill>
                          <a:latin typeface="DM Sans"/>
                          <a:ea typeface="DM Sans"/>
                          <a:cs typeface="DM Sans"/>
                        </a:rPr>
                        <a:t>Open Excel outcomes</a:t>
                      </a:r>
                    </a:p>
                    <a:p>
                      <a:r>
                        <a:rPr sz="1313" b="0">
                          <a:solidFill>
                            <a:srgbClr val="253342"/>
                          </a:solidFill>
                          <a:latin typeface="DM Sans"/>
                          <a:ea typeface="DM Sans"/>
                          <a:cs typeface="DM Sans"/>
                        </a:rPr>
                        <a:t>103 linked people</a:t>
                      </a:r>
                    </a:p>
                  </a:txBody>
                  <a:tcPr marL="95250" marR="76200" marT="66675" marB="57150" anchor="ctr"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 b="0">
                          <a:solidFill>
                            <a:srgbClr val="253342"/>
                          </a:solidFill>
                          <a:latin typeface="DM Sans"/>
                          <a:ea typeface="DM Sans"/>
                          <a:cs typeface="DM Sans"/>
                        </a:rPr>
                        <a:t>Both arms treated by month 6; no treatment detail</a:t>
                      </a:r>
                    </a:p>
                  </a:txBody>
                  <a:tcPr marL="95250" marR="76200" marT="66675" marB="57150" anchor="ctr">
                    <a:solidFill>
                      <a:srgbClr val="EAF1F4"/>
                    </a:solidFill>
                  </a:tcPr>
                </a:tc>
              </a:tr>
              <a:tr h="653415">
                <a:tc>
                  <a:txBody>
                    <a:bodyPr/>
                    <a:lstStyle/>
                    <a:p>
                      <a:r>
                        <a:rPr sz="1313" b="1">
                          <a:solidFill>
                            <a:srgbClr val="253342"/>
                          </a:solidFill>
                          <a:latin typeface="DM Sans"/>
                          <a:ea typeface="DM Sans"/>
                          <a:cs typeface="DM Sans"/>
                        </a:rPr>
                        <a:t>ACUFOCIN 2022</a:t>
                      </a:r>
                    </a:p>
                    <a:p>
                      <a:r>
                        <a:rPr sz="1313" b="1">
                          <a:solidFill>
                            <a:srgbClr val="253342"/>
                          </a:solidFill>
                          <a:latin typeface="DM Sans"/>
                          <a:ea typeface="DM Sans"/>
                          <a:cs typeface="DM Sans"/>
                        </a:rPr>
                        <a:t>Pragmatic RCT · N=120</a:t>
                      </a:r>
                    </a:p>
                  </a:txBody>
                  <a:tcPr marL="95250" marR="76200" marT="66675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 b="0">
                          <a:solidFill>
                            <a:srgbClr val="253342"/>
                          </a:solidFill>
                          <a:latin typeface="DM Sans"/>
                          <a:ea typeface="DM Sans"/>
                          <a:cs typeface="DM Sans"/>
                        </a:rPr>
                        <a:t>Acupuncture + usual care vs usual care; neuropathy response</a:t>
                      </a:r>
                    </a:p>
                  </a:txBody>
                  <a:tcPr marL="95250" marR="76200" marT="66675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 b="0">
                          <a:solidFill>
                            <a:srgbClr val="253342"/>
                          </a:solidFill>
                          <a:latin typeface="DM Sans"/>
                          <a:ea typeface="DM Sans"/>
                          <a:cs typeface="DM Sans"/>
                        </a:rPr>
                        <a:t>Author request</a:t>
                      </a:r>
                    </a:p>
                    <a:p>
                      <a:r>
                        <a:rPr sz="1313" b="0">
                          <a:solidFill>
                            <a:srgbClr val="253342"/>
                          </a:solidFill>
                          <a:latin typeface="DM Sans"/>
                          <a:ea typeface="DM Sans"/>
                          <a:cs typeface="DM Sans"/>
                        </a:rPr>
                        <a:t>Access unconfirmed</a:t>
                      </a:r>
                    </a:p>
                  </a:txBody>
                  <a:tcPr marL="95250" marR="76200" marT="66675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 b="0">
                          <a:solidFill>
                            <a:srgbClr val="253342"/>
                          </a:solidFill>
                          <a:latin typeface="DM Sans"/>
                          <a:ea typeface="DM Sans"/>
                          <a:cs typeface="DM Sans"/>
                        </a:rPr>
                        <a:t>Primary outcome available for 108</a:t>
                      </a:r>
                    </a:p>
                  </a:txBody>
                  <a:tcPr marL="95250" marR="76200" marT="66675" marB="57150" anchor="ctr">
                    <a:solidFill>
                      <a:srgbClr val="FFFFFF"/>
                    </a:solidFill>
                  </a:tcPr>
                </a:tc>
              </a:tr>
              <a:tr h="653415">
                <a:tc>
                  <a:txBody>
                    <a:bodyPr/>
                    <a:lstStyle/>
                    <a:p>
                      <a:r>
                        <a:rPr sz="1313" b="1">
                          <a:solidFill>
                            <a:srgbClr val="253342"/>
                          </a:solidFill>
                          <a:latin typeface="DM Sans"/>
                          <a:ea typeface="DM Sans"/>
                          <a:cs typeface="DM Sans"/>
                        </a:rPr>
                        <a:t>Suh 2025</a:t>
                      </a:r>
                    </a:p>
                    <a:p>
                      <a:r>
                        <a:rPr sz="1313" b="1">
                          <a:solidFill>
                            <a:srgbClr val="253342"/>
                          </a:solidFill>
                          <a:latin typeface="DM Sans"/>
                          <a:ea typeface="DM Sans"/>
                          <a:cs typeface="DM Sans"/>
                        </a:rPr>
                        <a:t>Matched cohort · N=2,242</a:t>
                      </a:r>
                    </a:p>
                  </a:txBody>
                  <a:tcPr marL="95250" marR="76200" marT="66675" marB="57150" anchor="ctr"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 b="0">
                          <a:solidFill>
                            <a:srgbClr val="253342"/>
                          </a:solidFill>
                          <a:latin typeface="DM Sans"/>
                          <a:ea typeface="DM Sans"/>
                          <a:cs typeface="DM Sans"/>
                        </a:rPr>
                        <a:t>Herbs + acupuncture vs acupuncture; cognition</a:t>
                      </a:r>
                    </a:p>
                  </a:txBody>
                  <a:tcPr marL="95250" marR="76200" marT="66675" marB="57150" anchor="ctr"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 b="0">
                          <a:solidFill>
                            <a:srgbClr val="253342"/>
                          </a:solidFill>
                          <a:latin typeface="DM Sans"/>
                          <a:ea typeface="DM Sans"/>
                          <a:cs typeface="DM Sans"/>
                        </a:rPr>
                        <a:t>Author request</a:t>
                      </a:r>
                    </a:p>
                    <a:p>
                      <a:r>
                        <a:rPr sz="1313" b="0">
                          <a:solidFill>
                            <a:srgbClr val="253342"/>
                          </a:solidFill>
                          <a:latin typeface="DM Sans"/>
                          <a:ea typeface="DM Sans"/>
                          <a:cs typeface="DM Sans"/>
                        </a:rPr>
                        <a:t>Access unconfirmed</a:t>
                      </a:r>
                    </a:p>
                  </a:txBody>
                  <a:tcPr marL="95250" marR="76200" marT="66675" marB="57150" anchor="ctr"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 b="0">
                          <a:solidFill>
                            <a:srgbClr val="253342"/>
                          </a:solidFill>
                          <a:latin typeface="DM Sans"/>
                          <a:ea typeface="DM Sans"/>
                          <a:cs typeface="DM Sans"/>
                        </a:rPr>
                        <a:t>Only 198 acupuncture-only comparators</a:t>
                      </a:r>
                    </a:p>
                  </a:txBody>
                  <a:tcPr marL="95250" marR="76200" marT="66675" marB="57150" anchor="ctr">
                    <a:solidFill>
                      <a:srgbClr val="EAF1F4"/>
                    </a:solidFill>
                  </a:tcPr>
                </a:tc>
              </a:tr>
              <a:tr h="653415">
                <a:tc>
                  <a:txBody>
                    <a:bodyPr/>
                    <a:lstStyle/>
                    <a:p>
                      <a:r>
                        <a:rPr sz="1313" b="1">
                          <a:solidFill>
                            <a:srgbClr val="253342"/>
                          </a:solidFill>
                          <a:latin typeface="DM Sans"/>
                          <a:ea typeface="DM Sans"/>
                          <a:cs typeface="DM Sans"/>
                        </a:rPr>
                        <a:t>OAI 2026</a:t>
                      </a:r>
                    </a:p>
                    <a:p>
                      <a:r>
                        <a:rPr sz="1313" b="1">
                          <a:solidFill>
                            <a:srgbClr val="253342"/>
                          </a:solidFill>
                          <a:latin typeface="DM Sans"/>
                          <a:ea typeface="DM Sans"/>
                          <a:cs typeface="DM Sans"/>
                        </a:rPr>
                        <a:t>Longitudinal · N=3,838</a:t>
                      </a:r>
                    </a:p>
                  </a:txBody>
                  <a:tcPr marL="95250" marR="76200" marT="66675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 b="0">
                          <a:solidFill>
                            <a:srgbClr val="253342"/>
                          </a:solidFill>
                          <a:latin typeface="DM Sans"/>
                          <a:ea typeface="DM Sans"/>
                          <a:cs typeface="DM Sans"/>
                        </a:rPr>
                        <a:t>Reported acupuncture use and knee pain trajectory</a:t>
                      </a:r>
                    </a:p>
                  </a:txBody>
                  <a:tcPr marL="95250" marR="76200" marT="66675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 b="0">
                          <a:solidFill>
                            <a:srgbClr val="253342"/>
                          </a:solidFill>
                          <a:latin typeface="DM Sans"/>
                          <a:ea typeface="DM Sans"/>
                          <a:cs typeface="DM Sans"/>
                        </a:rPr>
                        <a:t>NIH NDA approval</a:t>
                      </a:r>
                    </a:p>
                    <a:p>
                      <a:r>
                        <a:rPr sz="1313" b="0">
                          <a:solidFill>
                            <a:srgbClr val="253342"/>
                          </a:solidFill>
                          <a:latin typeface="DM Sans"/>
                          <a:ea typeface="DM Sans"/>
                          <a:cs typeface="DM Sans"/>
                        </a:rPr>
                        <a:t>Application needed</a:t>
                      </a:r>
                    </a:p>
                  </a:txBody>
                  <a:tcPr marL="95250" marR="76200" marT="66675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 b="0">
                          <a:solidFill>
                            <a:srgbClr val="253342"/>
                          </a:solidFill>
                          <a:latin typeface="DM Sans"/>
                          <a:ea typeface="DM Sans"/>
                          <a:cs typeface="DM Sans"/>
                        </a:rPr>
                        <a:t>Exposure reported by ~1.5% per wave</a:t>
                      </a:r>
                    </a:p>
                  </a:txBody>
                  <a:tcPr marL="95250" marR="76200" marT="66675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0081D1-A3C0-47AB-8C52-2C1814AB5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48325"/>
            <a:ext cx="10668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77C79"/>
                </a:solidFill>
                <a:latin typeface="DM Sans"/>
                <a:ea typeface="DM Sans"/>
                <a:cs typeface="DM Sans"/>
              </a:defRPr>
            </a:pPr>
            <a:r>
              <a:rPr sz="1500" b="1">
                <a:solidFill>
                  <a:srgbClr val="277C79"/>
                </a:solidFill>
                <a:latin typeface="DM Sans"/>
                <a:ea typeface="DM Sans"/>
                <a:cs typeface="DM Sans"/>
              </a:rPr>
              <a:t>Open IPD to audit: Armour and Conboy  ·  ACUFOCIN: stronger comparator if access is granted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C4066E-A835-486A-BAD8-C7028DECD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172200"/>
            <a:ext cx="7334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5727E"/>
                </a:solidFill>
                <a:latin typeface="DM Sans"/>
                <a:ea typeface="DM Sans"/>
                <a:cs typeface="DM Sans"/>
              </a:defRPr>
            </a:pPr>
            <a:r>
              <a:rPr sz="900" b="0">
                <a:solidFill>
                  <a:srgbClr val="65727E"/>
                </a:solidFill>
                <a:latin typeface="DM Sans"/>
                <a:ea typeface="DM Sans"/>
                <a:cs typeface="DM Sans"/>
              </a:rPr>
              <a:t>Sources and access routes in speaker notes · Status checked 28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10335108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</TotalTime>
  <Words>1510</Words>
  <Application>Microsoft Macintosh PowerPoint</Application>
  <DocSecurity>0</DocSecurity>
  <PresentationFormat>Widescreen</PresentationFormat>
  <Paragraphs>164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Calibri</vt:lpstr>
      <vt:lpstr>DM Sans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Independent replication of wrist-ankle acupuncture for herpes zoster pain</dc:title>
  <dc:creator>QiBo Institute</dc:creator>
  <cp:lastModifiedBy>QiBo Institute</cp:lastModifiedBy>
  <cp:revision>2</cp:revision>
  <dcterms:created xsi:type="dcterms:W3CDTF">2026-09-25T17:00:46Z</dcterms:created>
  <dcterms:modified xsi:type="dcterms:W3CDTF">2026-09-28T16:05:29Z</dcterms:modified>
</cp:coreProperties>
</file>